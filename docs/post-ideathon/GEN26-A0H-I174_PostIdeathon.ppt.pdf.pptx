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54B3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16865"/>
          </a:xfrm>
          <a:custGeom>
            <a:avLst/>
            <a:gdLst/>
            <a:ahLst/>
            <a:cxnLst/>
            <a:rect l="l" t="t" r="r" b="b"/>
            <a:pathLst>
              <a:path w="4608195" h="316865">
                <a:moveTo>
                  <a:pt x="4608004" y="0"/>
                </a:moveTo>
                <a:lnTo>
                  <a:pt x="0" y="0"/>
                </a:lnTo>
                <a:lnTo>
                  <a:pt x="0" y="316801"/>
                </a:lnTo>
                <a:lnTo>
                  <a:pt x="4608004" y="316801"/>
                </a:lnTo>
                <a:lnTo>
                  <a:pt x="4608004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302" y="57555"/>
            <a:ext cx="2715895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54B3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106" y="949188"/>
            <a:ext cx="3822065" cy="1520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720210" y="3333867"/>
            <a:ext cx="576579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11302" y="3333867"/>
            <a:ext cx="965200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-12"/>
            <a:ext cx="4608195" cy="57785"/>
          </a:xfrm>
          <a:custGeom>
            <a:avLst/>
            <a:gdLst/>
            <a:ahLst/>
            <a:cxnLst/>
            <a:rect l="l" t="t" r="r" b="b"/>
            <a:pathLst>
              <a:path w="4608195" h="57785">
                <a:moveTo>
                  <a:pt x="4608004" y="0"/>
                </a:moveTo>
                <a:lnTo>
                  <a:pt x="0" y="0"/>
                </a:lnTo>
                <a:lnTo>
                  <a:pt x="0" y="57607"/>
                </a:lnTo>
                <a:lnTo>
                  <a:pt x="4608004" y="57607"/>
                </a:lnTo>
                <a:lnTo>
                  <a:pt x="4608004" y="0"/>
                </a:lnTo>
                <a:close/>
              </a:path>
            </a:pathLst>
          </a:custGeom>
          <a:solidFill>
            <a:srgbClr val="154B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358" y="373058"/>
            <a:ext cx="1110269" cy="4590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646" y="431263"/>
            <a:ext cx="815796" cy="3493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23048" y="448325"/>
            <a:ext cx="234127" cy="30875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24002" y="973912"/>
            <a:ext cx="3960495" cy="15240"/>
          </a:xfrm>
          <a:custGeom>
            <a:avLst/>
            <a:gdLst/>
            <a:ahLst/>
            <a:cxnLst/>
            <a:rect l="l" t="t" r="r" b="b"/>
            <a:pathLst>
              <a:path w="3960495" h="15240">
                <a:moveTo>
                  <a:pt x="3959999" y="0"/>
                </a:moveTo>
                <a:lnTo>
                  <a:pt x="0" y="0"/>
                </a:lnTo>
                <a:lnTo>
                  <a:pt x="0" y="15189"/>
                </a:lnTo>
                <a:lnTo>
                  <a:pt x="3959999" y="15189"/>
                </a:lnTo>
                <a:lnTo>
                  <a:pt x="3959999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4002" y="1220635"/>
            <a:ext cx="871219" cy="31750"/>
          </a:xfrm>
          <a:custGeom>
            <a:avLst/>
            <a:gdLst/>
            <a:ahLst/>
            <a:cxnLst/>
            <a:rect l="l" t="t" r="r" b="b"/>
            <a:pathLst>
              <a:path w="871219" h="31750">
                <a:moveTo>
                  <a:pt x="871207" y="0"/>
                </a:moveTo>
                <a:lnTo>
                  <a:pt x="0" y="0"/>
                </a:lnTo>
                <a:lnTo>
                  <a:pt x="0" y="31635"/>
                </a:lnTo>
                <a:lnTo>
                  <a:pt x="871207" y="31635"/>
                </a:lnTo>
                <a:lnTo>
                  <a:pt x="87120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11302" y="1376131"/>
            <a:ext cx="259588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85">
                <a:latin typeface="Arial Black"/>
                <a:cs typeface="Arial Black"/>
              </a:rPr>
              <a:t>Genesis</a:t>
            </a:r>
            <a:r>
              <a:rPr dirty="0" sz="1200" spc="35">
                <a:latin typeface="Arial Black"/>
                <a:cs typeface="Arial Black"/>
              </a:rPr>
              <a:t> </a:t>
            </a:r>
            <a:r>
              <a:rPr dirty="0" sz="1200" spc="-105">
                <a:latin typeface="Arial Black"/>
                <a:cs typeface="Arial Black"/>
              </a:rPr>
              <a:t>Ideathon:</a:t>
            </a:r>
            <a:r>
              <a:rPr dirty="0" sz="1200" spc="100">
                <a:latin typeface="Arial Black"/>
                <a:cs typeface="Arial Black"/>
              </a:rPr>
              <a:t> </a:t>
            </a:r>
            <a:r>
              <a:rPr dirty="0" sz="1200" spc="-120">
                <a:latin typeface="Arial Black"/>
                <a:cs typeface="Arial Black"/>
              </a:rPr>
              <a:t>Final</a:t>
            </a:r>
            <a:r>
              <a:rPr dirty="0" sz="1200" spc="20">
                <a:latin typeface="Arial Black"/>
                <a:cs typeface="Arial Black"/>
              </a:rPr>
              <a:t> </a:t>
            </a:r>
            <a:r>
              <a:rPr dirty="0" sz="1200" spc="-114">
                <a:latin typeface="Arial Black"/>
                <a:cs typeface="Arial Black"/>
              </a:rPr>
              <a:t>Presentation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6505" y="1699836"/>
            <a:ext cx="3960495" cy="848994"/>
          </a:xfrm>
          <a:custGeom>
            <a:avLst/>
            <a:gdLst/>
            <a:ahLst/>
            <a:cxnLst/>
            <a:rect l="l" t="t" r="r" b="b"/>
            <a:pathLst>
              <a:path w="3960495" h="848994">
                <a:moveTo>
                  <a:pt x="3909450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797968"/>
                </a:lnTo>
                <a:lnTo>
                  <a:pt x="3977" y="817668"/>
                </a:lnTo>
                <a:lnTo>
                  <a:pt x="14823" y="833755"/>
                </a:lnTo>
                <a:lnTo>
                  <a:pt x="30910" y="844602"/>
                </a:lnTo>
                <a:lnTo>
                  <a:pt x="50610" y="848579"/>
                </a:lnTo>
                <a:lnTo>
                  <a:pt x="3909450" y="848579"/>
                </a:lnTo>
                <a:lnTo>
                  <a:pt x="3929151" y="844602"/>
                </a:lnTo>
                <a:lnTo>
                  <a:pt x="3945238" y="833755"/>
                </a:lnTo>
                <a:lnTo>
                  <a:pt x="3956084" y="817668"/>
                </a:lnTo>
                <a:lnTo>
                  <a:pt x="3960061" y="797968"/>
                </a:lnTo>
                <a:lnTo>
                  <a:pt x="3960061" y="50610"/>
                </a:lnTo>
                <a:lnTo>
                  <a:pt x="3956084" y="30910"/>
                </a:lnTo>
                <a:lnTo>
                  <a:pt x="3945238" y="14823"/>
                </a:lnTo>
                <a:lnTo>
                  <a:pt x="3929151" y="3977"/>
                </a:lnTo>
                <a:lnTo>
                  <a:pt x="3909450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3974" y="1697305"/>
            <a:ext cx="38100" cy="854075"/>
          </a:xfrm>
          <a:custGeom>
            <a:avLst/>
            <a:gdLst/>
            <a:ahLst/>
            <a:cxnLst/>
            <a:rect l="l" t="t" r="r" b="b"/>
            <a:pathLst>
              <a:path w="38100" h="854075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0" y="834661"/>
                </a:lnTo>
                <a:lnTo>
                  <a:pt x="1491" y="842048"/>
                </a:lnTo>
                <a:lnTo>
                  <a:pt x="5558" y="848081"/>
                </a:lnTo>
                <a:lnTo>
                  <a:pt x="11591" y="852149"/>
                </a:lnTo>
                <a:lnTo>
                  <a:pt x="18979" y="853640"/>
                </a:lnTo>
                <a:lnTo>
                  <a:pt x="26366" y="852149"/>
                </a:lnTo>
                <a:lnTo>
                  <a:pt x="32399" y="848081"/>
                </a:lnTo>
                <a:lnTo>
                  <a:pt x="36466" y="842048"/>
                </a:lnTo>
                <a:lnTo>
                  <a:pt x="37958" y="834661"/>
                </a:lnTo>
                <a:lnTo>
                  <a:pt x="37958" y="18979"/>
                </a:lnTo>
                <a:lnTo>
                  <a:pt x="36466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39826" y="1774487"/>
            <a:ext cx="3081655" cy="661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Arial"/>
                <a:cs typeface="Arial"/>
              </a:rPr>
              <a:t>Team</a:t>
            </a:r>
            <a:r>
              <a:rPr dirty="0" sz="1000" spc="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ID:</a:t>
            </a:r>
            <a:r>
              <a:rPr dirty="0" sz="1000" spc="20">
                <a:latin typeface="Arial"/>
                <a:cs typeface="Arial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GEN26-A0H-</a:t>
            </a:r>
            <a:r>
              <a:rPr dirty="0" sz="1000" spc="-20" i="1">
                <a:latin typeface="Trebuchet MS"/>
                <a:cs typeface="Trebuchet MS"/>
              </a:rPr>
              <a:t>I174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000" spc="-55">
                <a:latin typeface="Arial"/>
                <a:cs typeface="Arial"/>
              </a:rPr>
              <a:t>Team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Name:</a:t>
            </a:r>
            <a:r>
              <a:rPr dirty="0" sz="1000" spc="105">
                <a:latin typeface="Arial"/>
                <a:cs typeface="Arial"/>
              </a:rPr>
              <a:t> </a:t>
            </a:r>
            <a:r>
              <a:rPr dirty="0" sz="1000" spc="-10" i="1">
                <a:latin typeface="Trebuchet MS"/>
                <a:cs typeface="Trebuchet MS"/>
              </a:rPr>
              <a:t>Hacktivators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000" spc="-20">
                <a:latin typeface="Arial"/>
                <a:cs typeface="Arial"/>
              </a:rPr>
              <a:t>Domain:</a:t>
            </a:r>
            <a:r>
              <a:rPr dirty="0" sz="1000" spc="175">
                <a:latin typeface="Arial"/>
                <a:cs typeface="Arial"/>
              </a:rPr>
              <a:t> </a:t>
            </a:r>
            <a:r>
              <a:rPr dirty="0" sz="1000" spc="-60" i="1">
                <a:latin typeface="Trebuchet MS"/>
                <a:cs typeface="Trebuchet MS"/>
              </a:rPr>
              <a:t>Healthcare,</a:t>
            </a:r>
            <a:r>
              <a:rPr dirty="0" sz="1000" spc="10" i="1">
                <a:latin typeface="Trebuchet MS"/>
                <a:cs typeface="Trebuchet MS"/>
              </a:rPr>
              <a:t> </a:t>
            </a:r>
            <a:r>
              <a:rPr dirty="0" sz="1000" spc="-40" i="1">
                <a:latin typeface="Trebuchet MS"/>
                <a:cs typeface="Trebuchet MS"/>
              </a:rPr>
              <a:t>Biotechnology</a:t>
            </a:r>
            <a:r>
              <a:rPr dirty="0" sz="1000" spc="5" i="1">
                <a:latin typeface="Trebuchet MS"/>
                <a:cs typeface="Trebuchet MS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&amp;</a:t>
            </a:r>
            <a:r>
              <a:rPr dirty="0" sz="1000" spc="5" i="1">
                <a:latin typeface="Trebuchet MS"/>
                <a:cs typeface="Trebuchet MS"/>
              </a:rPr>
              <a:t> </a:t>
            </a:r>
            <a:r>
              <a:rPr dirty="0" sz="1000" spc="-10" i="1">
                <a:latin typeface="Trebuchet MS"/>
                <a:cs typeface="Trebuchet MS"/>
              </a:rPr>
              <a:t>Human</a:t>
            </a:r>
            <a:r>
              <a:rPr dirty="0" sz="1000" spc="10" i="1">
                <a:latin typeface="Trebuchet MS"/>
                <a:cs typeface="Trebuchet MS"/>
              </a:rPr>
              <a:t> </a:t>
            </a:r>
            <a:r>
              <a:rPr dirty="0" sz="1000" spc="-55" i="1">
                <a:latin typeface="Trebuchet MS"/>
                <a:cs typeface="Trebuchet MS"/>
              </a:rPr>
              <a:t>Well-</a:t>
            </a:r>
            <a:r>
              <a:rPr dirty="0" sz="1000" spc="-10" i="1">
                <a:latin typeface="Trebuchet MS"/>
                <a:cs typeface="Trebuchet MS"/>
              </a:rPr>
              <a:t>being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1302" y="2741544"/>
            <a:ext cx="253936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154B33"/>
                </a:solidFill>
                <a:latin typeface="Tahoma"/>
                <a:cs typeface="Tahoma"/>
              </a:rPr>
              <a:t>Amrita</a:t>
            </a:r>
            <a:r>
              <a:rPr dirty="0" sz="900" spc="-5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54B33"/>
                </a:solidFill>
                <a:latin typeface="Tahoma"/>
                <a:cs typeface="Tahoma"/>
              </a:rPr>
              <a:t>Vishwa</a:t>
            </a:r>
            <a:r>
              <a:rPr dirty="0" sz="900" spc="-5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54B33"/>
                </a:solidFill>
                <a:latin typeface="Tahoma"/>
                <a:cs typeface="Tahoma"/>
              </a:rPr>
              <a:t>Vidyapeetham,</a:t>
            </a:r>
            <a:r>
              <a:rPr dirty="0" sz="900" spc="-5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</a:rPr>
              <a:t>Coimbatore</a:t>
            </a:r>
            <a:r>
              <a:rPr dirty="0" sz="900" spc="-5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</a:rPr>
              <a:t>Campus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2879" y="2741544"/>
            <a:ext cx="129349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50">
                <a:latin typeface="Arial Black"/>
                <a:cs typeface="Arial Black"/>
              </a:rPr>
              <a:t>Date:</a:t>
            </a:r>
            <a:r>
              <a:rPr dirty="0" sz="900" spc="5">
                <a:latin typeface="Arial Black"/>
                <a:cs typeface="Arial Black"/>
              </a:rPr>
              <a:t> </a:t>
            </a:r>
            <a:r>
              <a:rPr dirty="0" sz="900">
                <a:latin typeface="Tahoma"/>
                <a:cs typeface="Tahoma"/>
              </a:rPr>
              <a:t>11th</a:t>
            </a:r>
            <a:r>
              <a:rPr dirty="0" sz="900" spc="-5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October</a:t>
            </a:r>
            <a:r>
              <a:rPr dirty="0" sz="900" spc="-5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2026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340485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Arial Black"/>
                <a:cs typeface="Arial Black"/>
              </a:rPr>
              <a:t>Presentation</a:t>
            </a:r>
            <a:r>
              <a:rPr dirty="0" sz="1100" spc="120">
                <a:latin typeface="Arial Black"/>
                <a:cs typeface="Arial Black"/>
              </a:rPr>
              <a:t> </a:t>
            </a:r>
            <a:r>
              <a:rPr dirty="0" sz="1100" spc="-90">
                <a:latin typeface="Arial Black"/>
                <a:cs typeface="Arial Black"/>
              </a:rPr>
              <a:t>Outline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16801"/>
            <a:ext cx="4608195" cy="17780"/>
          </a:xfrm>
          <a:custGeom>
            <a:avLst/>
            <a:gdLst/>
            <a:ahLst/>
            <a:cxnLst/>
            <a:rect l="l" t="t" r="r" b="b"/>
            <a:pathLst>
              <a:path w="4608195" h="17779">
                <a:moveTo>
                  <a:pt x="4608004" y="0"/>
                </a:moveTo>
                <a:lnTo>
                  <a:pt x="0" y="0"/>
                </a:lnTo>
                <a:lnTo>
                  <a:pt x="0" y="17716"/>
                </a:lnTo>
                <a:lnTo>
                  <a:pt x="4608004" y="17716"/>
                </a:lnTo>
                <a:lnTo>
                  <a:pt x="4608004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1302" y="1191200"/>
            <a:ext cx="1515745" cy="956944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154940" algn="l"/>
              </a:tabLst>
            </a:pPr>
            <a:r>
              <a:rPr dirty="0" sz="900">
                <a:solidFill>
                  <a:srgbClr val="154B33"/>
                </a:solidFill>
                <a:latin typeface="Tahoma"/>
                <a:cs typeface="Tahoma"/>
                <a:hlinkClick r:id="rId2" action="ppaction://hlinksldjump"/>
              </a:rPr>
              <a:t>Problem</a:t>
            </a:r>
            <a:r>
              <a:rPr dirty="0" sz="900" spc="-40">
                <a:solidFill>
                  <a:srgbClr val="154B33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2" action="ppaction://hlinksldjump"/>
              </a:rPr>
              <a:t>Statement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54940" algn="l"/>
              </a:tabLst>
            </a:pPr>
            <a:r>
              <a:rPr dirty="0" sz="900">
                <a:solidFill>
                  <a:srgbClr val="154B33"/>
                </a:solidFill>
                <a:latin typeface="Tahoma"/>
                <a:cs typeface="Tahoma"/>
                <a:hlinkClick r:id="rId3" action="ppaction://hlinksldjump"/>
              </a:rPr>
              <a:t>Problem</a:t>
            </a:r>
            <a:r>
              <a:rPr dirty="0" sz="900" spc="-40">
                <a:solidFill>
                  <a:srgbClr val="154B33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3" action="ppaction://hlinksldjump"/>
              </a:rPr>
              <a:t>Understanding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940" algn="l"/>
              </a:tabLst>
            </a:pPr>
            <a:r>
              <a:rPr dirty="0" sz="900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Existing</a:t>
            </a:r>
            <a:r>
              <a:rPr dirty="0" sz="900" spc="-20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Gaps</a:t>
            </a:r>
            <a:r>
              <a:rPr dirty="0" sz="900" spc="-15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900" spc="85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&amp;</a:t>
            </a:r>
            <a:r>
              <a:rPr dirty="0" sz="900" spc="-15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4" action="ppaction://hlinksldjump"/>
              </a:rPr>
              <a:t>Challenges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940" algn="l"/>
              </a:tabLst>
            </a:pPr>
            <a:r>
              <a:rPr dirty="0" sz="900">
                <a:solidFill>
                  <a:srgbClr val="154B33"/>
                </a:solidFill>
                <a:latin typeface="Tahoma"/>
                <a:cs typeface="Tahoma"/>
                <a:hlinkClick r:id="rId5" action="ppaction://hlinksldjump"/>
              </a:rPr>
              <a:t>Our</a:t>
            </a:r>
            <a:r>
              <a:rPr dirty="0" sz="900" spc="-15">
                <a:solidFill>
                  <a:srgbClr val="154B33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5" action="ppaction://hlinksldjump"/>
              </a:rPr>
              <a:t>Proposed Solution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54940" algn="l"/>
              </a:tabLst>
            </a:pP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6" action="ppaction://hlinksldjump"/>
              </a:rPr>
              <a:t>Technical</a:t>
            </a:r>
            <a:r>
              <a:rPr dirty="0" sz="900" spc="5">
                <a:solidFill>
                  <a:srgbClr val="154B33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6" action="ppaction://hlinksldjump"/>
              </a:rPr>
              <a:t>Approach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940" algn="l"/>
              </a:tabLst>
            </a:pPr>
            <a:r>
              <a:rPr dirty="0" sz="900" spc="-25">
                <a:solidFill>
                  <a:srgbClr val="154B33"/>
                </a:solidFill>
                <a:latin typeface="Tahoma"/>
                <a:cs typeface="Tahoma"/>
                <a:hlinkClick r:id="rId7" action="ppaction://hlinksldjump"/>
              </a:rPr>
              <a:t>Innovation</a:t>
            </a:r>
            <a:r>
              <a:rPr dirty="0" sz="900" spc="20">
                <a:solidFill>
                  <a:srgbClr val="154B33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900" spc="85">
                <a:solidFill>
                  <a:srgbClr val="154B33"/>
                </a:solidFill>
                <a:latin typeface="Tahoma"/>
                <a:cs typeface="Tahoma"/>
                <a:hlinkClick r:id="rId7" action="ppaction://hlinksldjump"/>
              </a:rPr>
              <a:t>&amp;</a:t>
            </a:r>
            <a:r>
              <a:rPr dirty="0" sz="900" spc="20">
                <a:solidFill>
                  <a:srgbClr val="154B33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7" action="ppaction://hlinksldjump"/>
              </a:rPr>
              <a:t>Uniqueness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0518" y="1191200"/>
            <a:ext cx="1790700" cy="956944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240"/>
              </a:spcBef>
              <a:buAutoNum type="arabicPeriod" startAt="7"/>
              <a:tabLst>
                <a:tab pos="154940" algn="l"/>
              </a:tabLst>
            </a:pPr>
            <a:r>
              <a:rPr dirty="0" sz="900">
                <a:solidFill>
                  <a:srgbClr val="154B33"/>
                </a:solidFill>
                <a:latin typeface="Tahoma"/>
                <a:cs typeface="Tahoma"/>
                <a:hlinkClick r:id="rId8" action="ppaction://hlinksldjump"/>
              </a:rPr>
              <a:t>Feasibility</a:t>
            </a:r>
            <a:r>
              <a:rPr dirty="0" sz="900" spc="-20">
                <a:solidFill>
                  <a:srgbClr val="154B33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900" spc="85">
                <a:solidFill>
                  <a:srgbClr val="154B33"/>
                </a:solidFill>
                <a:latin typeface="Tahoma"/>
                <a:cs typeface="Tahoma"/>
                <a:hlinkClick r:id="rId8" action="ppaction://hlinksldjump"/>
              </a:rPr>
              <a:t>&amp;</a:t>
            </a:r>
            <a:r>
              <a:rPr dirty="0" sz="900" spc="-20">
                <a:solidFill>
                  <a:srgbClr val="154B33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8" action="ppaction://hlinksldjump"/>
              </a:rPr>
              <a:t>Scalability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5"/>
              </a:spcBef>
              <a:buAutoNum type="arabicPeriod" startAt="7"/>
              <a:tabLst>
                <a:tab pos="154940" algn="l"/>
              </a:tabLst>
            </a:pPr>
            <a:r>
              <a:rPr dirty="0" sz="900">
                <a:solidFill>
                  <a:srgbClr val="154B33"/>
                </a:solidFill>
                <a:latin typeface="Tahoma"/>
                <a:cs typeface="Tahoma"/>
                <a:hlinkClick r:id="rId9" action="ppaction://hlinksldjump"/>
              </a:rPr>
              <a:t>Cost</a:t>
            </a:r>
            <a:r>
              <a:rPr dirty="0" sz="900" spc="-20">
                <a:solidFill>
                  <a:srgbClr val="154B33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900">
                <a:solidFill>
                  <a:srgbClr val="154B33"/>
                </a:solidFill>
                <a:latin typeface="Tahoma"/>
                <a:cs typeface="Tahoma"/>
                <a:hlinkClick r:id="rId9" action="ppaction://hlinksldjump"/>
              </a:rPr>
              <a:t>for</a:t>
            </a:r>
            <a:r>
              <a:rPr dirty="0" sz="900" spc="-20">
                <a:solidFill>
                  <a:srgbClr val="154B33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9" action="ppaction://hlinksldjump"/>
              </a:rPr>
              <a:t>Product</a:t>
            </a:r>
            <a:endParaRPr sz="900">
              <a:latin typeface="Tahoma"/>
              <a:cs typeface="Tahoma"/>
            </a:endParaRPr>
          </a:p>
          <a:p>
            <a:pPr marL="154940" indent="-14224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154940" algn="l"/>
              </a:tabLst>
            </a:pPr>
            <a:r>
              <a:rPr dirty="0" sz="900">
                <a:solidFill>
                  <a:srgbClr val="154B33"/>
                </a:solidFill>
                <a:latin typeface="Tahoma"/>
                <a:cs typeface="Tahoma"/>
                <a:hlinkClick r:id="rId10" action="ppaction://hlinksldjump"/>
              </a:rPr>
              <a:t>Use</a:t>
            </a:r>
            <a:r>
              <a:rPr dirty="0" sz="900" spc="-60">
                <a:solidFill>
                  <a:srgbClr val="154B33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10" action="ppaction://hlinksldjump"/>
              </a:rPr>
              <a:t>Cases</a:t>
            </a:r>
            <a:endParaRPr sz="900">
              <a:latin typeface="Tahoma"/>
              <a:cs typeface="Tahoma"/>
            </a:endParaRPr>
          </a:p>
          <a:p>
            <a:pPr marL="213360" indent="-20066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213360" algn="l"/>
              </a:tabLst>
            </a:pPr>
            <a:r>
              <a:rPr dirty="0" sz="900" spc="-20">
                <a:solidFill>
                  <a:srgbClr val="154B33"/>
                </a:solidFill>
                <a:latin typeface="Tahoma"/>
                <a:cs typeface="Tahoma"/>
                <a:hlinkClick r:id="rId11" action="ppaction://hlinksldjump"/>
              </a:rPr>
              <a:t>Impacts</a:t>
            </a:r>
            <a:r>
              <a:rPr dirty="0" sz="900" spc="-35">
                <a:solidFill>
                  <a:srgbClr val="154B33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11" action="ppaction://hlinksldjump"/>
              </a:rPr>
              <a:t>and</a:t>
            </a:r>
            <a:r>
              <a:rPr dirty="0" sz="900" spc="-35">
                <a:solidFill>
                  <a:srgbClr val="154B33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11" action="ppaction://hlinksldjump"/>
              </a:rPr>
              <a:t>Benefits</a:t>
            </a:r>
            <a:endParaRPr sz="900">
              <a:latin typeface="Tahoma"/>
              <a:cs typeface="Tahoma"/>
            </a:endParaRPr>
          </a:p>
          <a:p>
            <a:pPr marL="213360" indent="-200660">
              <a:lnSpc>
                <a:spcPct val="100000"/>
              </a:lnSpc>
              <a:spcBef>
                <a:spcPts val="145"/>
              </a:spcBef>
              <a:buAutoNum type="arabicPeriod" startAt="7"/>
              <a:tabLst>
                <a:tab pos="213360" algn="l"/>
              </a:tabLst>
            </a:pPr>
            <a:r>
              <a:rPr dirty="0" sz="900" spc="-20">
                <a:solidFill>
                  <a:srgbClr val="154B33"/>
                </a:solidFill>
                <a:latin typeface="Tahoma"/>
                <a:cs typeface="Tahoma"/>
                <a:hlinkClick r:id="rId12" action="ppaction://hlinksldjump"/>
              </a:rPr>
              <a:t>Sustainable</a:t>
            </a:r>
            <a:r>
              <a:rPr dirty="0" sz="900" spc="10">
                <a:solidFill>
                  <a:srgbClr val="154B33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900" spc="-20">
                <a:solidFill>
                  <a:srgbClr val="154B33"/>
                </a:solidFill>
                <a:latin typeface="Tahoma"/>
                <a:cs typeface="Tahoma"/>
                <a:hlinkClick r:id="rId12" action="ppaction://hlinksldjump"/>
              </a:rPr>
              <a:t>Development</a:t>
            </a:r>
            <a:r>
              <a:rPr dirty="0" sz="900" spc="15">
                <a:solidFill>
                  <a:srgbClr val="154B33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12" action="ppaction://hlinksldjump"/>
              </a:rPr>
              <a:t>Goals</a:t>
            </a:r>
            <a:endParaRPr sz="900">
              <a:latin typeface="Tahoma"/>
              <a:cs typeface="Tahoma"/>
            </a:endParaRPr>
          </a:p>
          <a:p>
            <a:pPr marL="213360" indent="-20066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213360" algn="l"/>
              </a:tabLst>
            </a:pPr>
            <a:r>
              <a:rPr dirty="0" sz="900" spc="-20">
                <a:solidFill>
                  <a:srgbClr val="154B33"/>
                </a:solidFill>
                <a:latin typeface="Tahoma"/>
                <a:cs typeface="Tahoma"/>
                <a:hlinkClick r:id="rId13" action="ppaction://hlinksldjump"/>
              </a:rPr>
              <a:t>Individual</a:t>
            </a:r>
            <a:r>
              <a:rPr dirty="0" sz="900" spc="-5">
                <a:solidFill>
                  <a:srgbClr val="154B33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900">
                <a:solidFill>
                  <a:srgbClr val="154B33"/>
                </a:solidFill>
                <a:latin typeface="Tahoma"/>
                <a:cs typeface="Tahoma"/>
                <a:hlinkClick r:id="rId13" action="ppaction://hlinksldjump"/>
              </a:rPr>
              <a:t>Member</a:t>
            </a:r>
            <a:r>
              <a:rPr dirty="0" sz="900" spc="-5">
                <a:solidFill>
                  <a:srgbClr val="154B33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Tahoma"/>
                <a:cs typeface="Tahoma"/>
                <a:hlinkClick r:id="rId13" action="ppaction://hlinksldjump"/>
              </a:rPr>
              <a:t>Contribution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Arial Black"/>
                <a:cs typeface="Arial Black"/>
              </a:rPr>
              <a:t>Problem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10">
                <a:latin typeface="Arial Black"/>
                <a:cs typeface="Arial Black"/>
              </a:rPr>
              <a:t>Statement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273189" y="1024305"/>
            <a:ext cx="3810000" cy="648970"/>
          </a:xfrm>
          <a:custGeom>
            <a:avLst/>
            <a:gdLst/>
            <a:ahLst/>
            <a:cxnLst/>
            <a:rect l="l" t="t" r="r" b="b"/>
            <a:pathLst>
              <a:path w="3810000" h="648969">
                <a:moveTo>
                  <a:pt x="3809657" y="44424"/>
                </a:moveTo>
                <a:lnTo>
                  <a:pt x="3808361" y="44424"/>
                </a:lnTo>
                <a:lnTo>
                  <a:pt x="3805656" y="31076"/>
                </a:lnTo>
                <a:lnTo>
                  <a:pt x="3794734" y="14922"/>
                </a:lnTo>
                <a:lnTo>
                  <a:pt x="3778580" y="4013"/>
                </a:lnTo>
                <a:lnTo>
                  <a:pt x="3758857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597877"/>
                </a:lnTo>
                <a:lnTo>
                  <a:pt x="4013" y="617613"/>
                </a:lnTo>
                <a:lnTo>
                  <a:pt x="14922" y="633768"/>
                </a:lnTo>
                <a:lnTo>
                  <a:pt x="31076" y="644677"/>
                </a:lnTo>
                <a:lnTo>
                  <a:pt x="50812" y="648690"/>
                </a:lnTo>
                <a:lnTo>
                  <a:pt x="3758857" y="648690"/>
                </a:lnTo>
                <a:lnTo>
                  <a:pt x="3778580" y="644677"/>
                </a:lnTo>
                <a:lnTo>
                  <a:pt x="3794734" y="633768"/>
                </a:lnTo>
                <a:lnTo>
                  <a:pt x="3805656" y="617613"/>
                </a:lnTo>
                <a:lnTo>
                  <a:pt x="3809657" y="597877"/>
                </a:lnTo>
                <a:lnTo>
                  <a:pt x="3809657" y="82384"/>
                </a:lnTo>
                <a:lnTo>
                  <a:pt x="3809657" y="50800"/>
                </a:lnTo>
                <a:lnTo>
                  <a:pt x="3809657" y="44424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37299" y="1150474"/>
            <a:ext cx="2862580" cy="365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100"/>
              </a:spcBef>
            </a:pPr>
            <a:r>
              <a:rPr dirty="0" sz="1000" spc="-55">
                <a:latin typeface="Arial"/>
                <a:cs typeface="Arial"/>
              </a:rPr>
              <a:t>AI-</a:t>
            </a:r>
            <a:r>
              <a:rPr dirty="0" sz="1000" spc="-45">
                <a:latin typeface="Arial"/>
                <a:cs typeface="Arial"/>
              </a:rPr>
              <a:t>based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cognitive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gaming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and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55">
                <a:latin typeface="Arial"/>
                <a:cs typeface="Arial"/>
              </a:rPr>
              <a:t>memory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55">
                <a:latin typeface="Arial"/>
                <a:cs typeface="Arial"/>
              </a:rPr>
              <a:t>assistance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for </a:t>
            </a:r>
            <a:r>
              <a:rPr dirty="0" sz="1000" spc="-35">
                <a:latin typeface="Arial"/>
                <a:cs typeface="Arial"/>
              </a:rPr>
              <a:t>Alzheimer’s</a:t>
            </a:r>
            <a:r>
              <a:rPr dirty="0" sz="1000" spc="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patients.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302" y="1850342"/>
            <a:ext cx="3732529" cy="491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dirty="0" sz="900">
                <a:latin typeface="Tahoma"/>
                <a:cs typeface="Tahoma"/>
              </a:rPr>
              <a:t>Families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far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from</a:t>
            </a:r>
            <a:r>
              <a:rPr dirty="0" sz="900" spc="-30">
                <a:latin typeface="Tahoma"/>
                <a:cs typeface="Tahoma"/>
              </a:rPr>
              <a:t> memory </a:t>
            </a:r>
            <a:r>
              <a:rPr dirty="0" sz="900">
                <a:latin typeface="Tahoma"/>
                <a:cs typeface="Tahoma"/>
              </a:rPr>
              <a:t>clinics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have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almost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no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way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give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person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with </a:t>
            </a:r>
            <a:r>
              <a:rPr dirty="0" sz="900">
                <a:latin typeface="Tahoma"/>
                <a:cs typeface="Tahoma"/>
              </a:rPr>
              <a:t>Alzheimer’s</a:t>
            </a:r>
            <a:r>
              <a:rPr dirty="0" sz="900" spc="-25">
                <a:latin typeface="Tahoma"/>
                <a:cs typeface="Tahoma"/>
              </a:rPr>
              <a:t> regular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mental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exercise,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reminders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and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record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-20">
                <a:latin typeface="Tahoma"/>
                <a:cs typeface="Tahoma"/>
              </a:rPr>
              <a:t> how </a:t>
            </a:r>
            <a:r>
              <a:rPr dirty="0" sz="900" spc="-10">
                <a:latin typeface="Tahoma"/>
                <a:cs typeface="Tahoma"/>
              </a:rPr>
              <a:t>they</a:t>
            </a:r>
            <a:r>
              <a:rPr dirty="0" sz="900" spc="-25">
                <a:latin typeface="Tahoma"/>
                <a:cs typeface="Tahoma"/>
              </a:rPr>
              <a:t> are </a:t>
            </a:r>
            <a:r>
              <a:rPr dirty="0" sz="900" spc="-10">
                <a:latin typeface="Tahoma"/>
                <a:cs typeface="Tahoma"/>
              </a:rPr>
              <a:t>doing.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Arial Black"/>
                <a:cs typeface="Arial Black"/>
              </a:rPr>
              <a:t>Problem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20">
                <a:latin typeface="Arial Black"/>
                <a:cs typeface="Arial Black"/>
              </a:rPr>
              <a:t>Understanding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04208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63412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22615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dirty="0" spc="-30">
                <a:latin typeface="Arial Black"/>
                <a:cs typeface="Arial Black"/>
              </a:rPr>
              <a:t>Who:</a:t>
            </a:r>
            <a:r>
              <a:rPr dirty="0" spc="40">
                <a:latin typeface="Arial Black"/>
                <a:cs typeface="Arial Black"/>
              </a:rPr>
              <a:t> </a:t>
            </a:r>
            <a:r>
              <a:rPr dirty="0" spc="-25"/>
              <a:t>people</a:t>
            </a:r>
            <a:r>
              <a:rPr dirty="0" spc="-30"/>
              <a:t> </a:t>
            </a:r>
            <a:r>
              <a:rPr dirty="0" spc="-25"/>
              <a:t>above</a:t>
            </a:r>
            <a:r>
              <a:rPr dirty="0" spc="-30"/>
              <a:t> </a:t>
            </a:r>
            <a:r>
              <a:rPr dirty="0"/>
              <a:t>60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30"/>
              <a:t> </a:t>
            </a:r>
            <a:r>
              <a:rPr dirty="0"/>
              <a:t>mild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25"/>
              <a:t> moderate</a:t>
            </a:r>
            <a:r>
              <a:rPr dirty="0" spc="-30"/>
              <a:t> </a:t>
            </a:r>
            <a:r>
              <a:rPr dirty="0"/>
              <a:t>Alzheimer’s</a:t>
            </a:r>
            <a:r>
              <a:rPr dirty="0" spc="-30"/>
              <a:t> </a:t>
            </a:r>
            <a:r>
              <a:rPr dirty="0"/>
              <a:t>or</a:t>
            </a:r>
            <a:r>
              <a:rPr dirty="0" spc="-25"/>
              <a:t> </a:t>
            </a:r>
            <a:r>
              <a:rPr dirty="0" spc="-10"/>
              <a:t>other</a:t>
            </a:r>
            <a:r>
              <a:rPr dirty="0" spc="-30"/>
              <a:t> </a:t>
            </a:r>
            <a:r>
              <a:rPr dirty="0" spc="-10"/>
              <a:t>dementia, </a:t>
            </a:r>
            <a:r>
              <a:rPr dirty="0" spc="-20"/>
              <a:t>Healthcare</a:t>
            </a:r>
            <a:r>
              <a:rPr dirty="0" spc="-40"/>
              <a:t> </a:t>
            </a:r>
            <a:r>
              <a:rPr dirty="0" spc="-35"/>
              <a:t>workers</a:t>
            </a:r>
            <a:r>
              <a:rPr dirty="0" spc="-40"/>
              <a:t> </a:t>
            </a:r>
            <a:r>
              <a:rPr dirty="0" spc="-10"/>
              <a:t>and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family</a:t>
            </a:r>
            <a:r>
              <a:rPr dirty="0" spc="-35"/>
              <a:t> </a:t>
            </a:r>
            <a:r>
              <a:rPr dirty="0" spc="-30"/>
              <a:t>members</a:t>
            </a:r>
            <a:r>
              <a:rPr dirty="0" spc="-40"/>
              <a:t> </a:t>
            </a:r>
            <a:r>
              <a:rPr dirty="0" spc="-10"/>
              <a:t>who</a:t>
            </a:r>
            <a:r>
              <a:rPr dirty="0" spc="-35"/>
              <a:t> </a:t>
            </a:r>
            <a:r>
              <a:rPr dirty="0"/>
              <a:t>look</a:t>
            </a:r>
            <a:r>
              <a:rPr dirty="0" spc="-40"/>
              <a:t> </a:t>
            </a:r>
            <a:r>
              <a:rPr dirty="0"/>
              <a:t>after</a:t>
            </a:r>
            <a:r>
              <a:rPr dirty="0" spc="-35"/>
              <a:t> </a:t>
            </a:r>
            <a:r>
              <a:rPr dirty="0"/>
              <a:t>them.</a:t>
            </a:r>
            <a:r>
              <a:rPr dirty="0" spc="40"/>
              <a:t> </a:t>
            </a:r>
            <a:r>
              <a:rPr dirty="0" spc="-20"/>
              <a:t>India</a:t>
            </a:r>
            <a:r>
              <a:rPr dirty="0" spc="-35"/>
              <a:t> </a:t>
            </a:r>
            <a:r>
              <a:rPr dirty="0" spc="-25"/>
              <a:t>has </a:t>
            </a:r>
            <a:r>
              <a:rPr dirty="0"/>
              <a:t>about</a:t>
            </a:r>
            <a:r>
              <a:rPr dirty="0" spc="-15"/>
              <a:t> </a:t>
            </a:r>
            <a:r>
              <a:rPr dirty="0"/>
              <a:t>8.8</a:t>
            </a:r>
            <a:r>
              <a:rPr dirty="0" spc="-15"/>
              <a:t> </a:t>
            </a:r>
            <a:r>
              <a:rPr dirty="0"/>
              <a:t>million</a:t>
            </a:r>
            <a:r>
              <a:rPr dirty="0" spc="-10"/>
              <a:t> </a:t>
            </a:r>
            <a:r>
              <a:rPr dirty="0" spc="-25"/>
              <a:t>people</a:t>
            </a:r>
            <a:r>
              <a:rPr dirty="0" spc="-15"/>
              <a:t> </a:t>
            </a:r>
            <a:r>
              <a:rPr dirty="0" spc="-40"/>
              <a:t>aged</a:t>
            </a:r>
            <a:r>
              <a:rPr dirty="0" spc="-10"/>
              <a:t> </a:t>
            </a:r>
            <a:r>
              <a:rPr dirty="0"/>
              <a:t>60+</a:t>
            </a:r>
            <a:r>
              <a:rPr dirty="0" spc="-15"/>
              <a:t> </a:t>
            </a:r>
            <a:r>
              <a:rPr dirty="0"/>
              <a:t>with</a:t>
            </a:r>
            <a:r>
              <a:rPr dirty="0" spc="-10"/>
              <a:t> </a:t>
            </a:r>
            <a:r>
              <a:rPr dirty="0" spc="-25"/>
              <a:t>dementia</a:t>
            </a:r>
            <a:r>
              <a:rPr dirty="0" spc="-15"/>
              <a:t> </a:t>
            </a:r>
            <a:r>
              <a:rPr dirty="0" spc="-50"/>
              <a:t>.</a:t>
            </a:r>
          </a:p>
          <a:p>
            <a:pPr marL="12700" marR="363855">
              <a:lnSpc>
                <a:spcPct val="113100"/>
              </a:lnSpc>
              <a:spcBef>
                <a:spcPts val="994"/>
              </a:spcBef>
            </a:pPr>
            <a:r>
              <a:rPr dirty="0" spc="-45">
                <a:latin typeface="Arial Black"/>
                <a:cs typeface="Arial Black"/>
              </a:rPr>
              <a:t>Why</a:t>
            </a:r>
            <a:r>
              <a:rPr dirty="0" spc="-30">
                <a:latin typeface="Arial Black"/>
                <a:cs typeface="Arial Black"/>
              </a:rPr>
              <a:t> </a:t>
            </a:r>
            <a:r>
              <a:rPr dirty="0" spc="-20">
                <a:latin typeface="Arial Black"/>
                <a:cs typeface="Arial Black"/>
              </a:rPr>
              <a:t>it</a:t>
            </a:r>
            <a:r>
              <a:rPr dirty="0" spc="-35">
                <a:latin typeface="Arial Black"/>
                <a:cs typeface="Arial Black"/>
              </a:rPr>
              <a:t> </a:t>
            </a:r>
            <a:r>
              <a:rPr dirty="0" spc="-100">
                <a:latin typeface="Arial Black"/>
                <a:cs typeface="Arial Black"/>
              </a:rPr>
              <a:t>happens: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35"/>
              <a:t>disease</a:t>
            </a:r>
            <a:r>
              <a:rPr dirty="0" spc="-30"/>
              <a:t> </a:t>
            </a:r>
            <a:r>
              <a:rPr dirty="0" spc="-10"/>
              <a:t>slowly</a:t>
            </a:r>
            <a:r>
              <a:rPr dirty="0" spc="-30"/>
              <a:t> </a:t>
            </a:r>
            <a:r>
              <a:rPr dirty="0" spc="-35"/>
              <a:t>damages</a:t>
            </a:r>
            <a:r>
              <a:rPr dirty="0" spc="-30"/>
              <a:t> </a:t>
            </a:r>
            <a:r>
              <a:rPr dirty="0" spc="-40"/>
              <a:t>memory,</a:t>
            </a:r>
            <a:r>
              <a:rPr dirty="0" spc="-30"/>
              <a:t> </a:t>
            </a:r>
            <a:r>
              <a:rPr dirty="0" spc="-10"/>
              <a:t>attention</a:t>
            </a:r>
            <a:r>
              <a:rPr dirty="0" spc="-30"/>
              <a:t> </a:t>
            </a:r>
            <a:r>
              <a:rPr dirty="0" spc="-25"/>
              <a:t>and </a:t>
            </a:r>
            <a:r>
              <a:rPr dirty="0" spc="-20"/>
              <a:t>learning.</a:t>
            </a:r>
            <a:r>
              <a:rPr dirty="0" spc="45"/>
              <a:t> </a:t>
            </a:r>
            <a:r>
              <a:rPr dirty="0"/>
              <a:t>Memory</a:t>
            </a:r>
            <a:r>
              <a:rPr dirty="0" spc="-30"/>
              <a:t> </a:t>
            </a:r>
            <a:r>
              <a:rPr dirty="0" spc="-10"/>
              <a:t>loss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put</a:t>
            </a:r>
            <a:r>
              <a:rPr dirty="0" spc="-35"/>
              <a:t> </a:t>
            </a:r>
            <a:r>
              <a:rPr dirty="0" spc="-25"/>
              <a:t>down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old</a:t>
            </a:r>
            <a:r>
              <a:rPr dirty="0" spc="-35"/>
              <a:t> </a:t>
            </a:r>
            <a:r>
              <a:rPr dirty="0" spc="-25"/>
              <a:t>age,</a:t>
            </a:r>
            <a:r>
              <a:rPr dirty="0" spc="-30"/>
              <a:t> </a:t>
            </a:r>
            <a:r>
              <a:rPr dirty="0"/>
              <a:t>so</a:t>
            </a:r>
            <a:r>
              <a:rPr dirty="0" spc="-35"/>
              <a:t> </a:t>
            </a:r>
            <a:r>
              <a:rPr dirty="0" spc="-10"/>
              <a:t>help</a:t>
            </a:r>
            <a:r>
              <a:rPr dirty="0" spc="-30"/>
              <a:t> </a:t>
            </a:r>
            <a:r>
              <a:rPr dirty="0" spc="-25"/>
              <a:t>comes</a:t>
            </a:r>
            <a:r>
              <a:rPr dirty="0" spc="-35"/>
              <a:t> </a:t>
            </a:r>
            <a:r>
              <a:rPr dirty="0"/>
              <a:t>late,</a:t>
            </a:r>
            <a:r>
              <a:rPr dirty="0" spc="-30"/>
              <a:t> </a:t>
            </a:r>
            <a:r>
              <a:rPr dirty="0" spc="-25"/>
              <a:t>and </a:t>
            </a:r>
            <a:r>
              <a:rPr dirty="0" spc="-10"/>
              <a:t>specialists</a:t>
            </a:r>
            <a:r>
              <a:rPr dirty="0" spc="-20"/>
              <a:t> </a:t>
            </a:r>
            <a:r>
              <a:rPr dirty="0"/>
              <a:t>sit</a:t>
            </a:r>
            <a:r>
              <a:rPr dirty="0" spc="-15"/>
              <a:t> </a:t>
            </a:r>
            <a:r>
              <a:rPr dirty="0" spc="-10"/>
              <a:t>mostly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 spc="-10"/>
              <a:t>few</a:t>
            </a:r>
            <a:r>
              <a:rPr dirty="0" spc="-15"/>
              <a:t> </a:t>
            </a:r>
            <a:r>
              <a:rPr dirty="0" spc="-10"/>
              <a:t>cities.</a:t>
            </a:r>
          </a:p>
          <a:p>
            <a:pPr marL="12700" marR="5080">
              <a:lnSpc>
                <a:spcPct val="113100"/>
              </a:lnSpc>
              <a:spcBef>
                <a:spcPts val="1000"/>
              </a:spcBef>
            </a:pPr>
            <a:r>
              <a:rPr dirty="0" spc="-60">
                <a:latin typeface="Arial Black"/>
                <a:cs typeface="Arial Black"/>
              </a:rPr>
              <a:t>What</a:t>
            </a:r>
            <a:r>
              <a:rPr dirty="0" spc="-15">
                <a:latin typeface="Arial Black"/>
                <a:cs typeface="Arial Black"/>
              </a:rPr>
              <a:t> </a:t>
            </a:r>
            <a:r>
              <a:rPr dirty="0" spc="-30">
                <a:latin typeface="Arial Black"/>
                <a:cs typeface="Arial Black"/>
              </a:rPr>
              <a:t>it</a:t>
            </a:r>
            <a:r>
              <a:rPr dirty="0" spc="-45">
                <a:latin typeface="Arial Black"/>
                <a:cs typeface="Arial Black"/>
              </a:rPr>
              <a:t> </a:t>
            </a:r>
            <a:r>
              <a:rPr dirty="0" spc="-140">
                <a:latin typeface="Arial Black"/>
                <a:cs typeface="Arial Black"/>
              </a:rPr>
              <a:t>leads</a:t>
            </a:r>
            <a:r>
              <a:rPr dirty="0" spc="15">
                <a:latin typeface="Arial Black"/>
                <a:cs typeface="Arial Black"/>
              </a:rPr>
              <a:t> </a:t>
            </a:r>
            <a:r>
              <a:rPr dirty="0" spc="-25">
                <a:latin typeface="Arial Black"/>
                <a:cs typeface="Arial Black"/>
              </a:rPr>
              <a:t>to: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20"/>
              <a:t>faster</a:t>
            </a:r>
            <a:r>
              <a:rPr dirty="0" spc="-25"/>
              <a:t> </a:t>
            </a:r>
            <a:r>
              <a:rPr dirty="0" spc="-10"/>
              <a:t>loss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35"/>
              <a:t>independence,</a:t>
            </a:r>
            <a:r>
              <a:rPr dirty="0" spc="-20"/>
              <a:t> </a:t>
            </a:r>
            <a:r>
              <a:rPr dirty="0"/>
              <a:t>tired</a:t>
            </a:r>
            <a:r>
              <a:rPr dirty="0" spc="-20"/>
              <a:t> </a:t>
            </a:r>
            <a:r>
              <a:rPr dirty="0" spc="-10"/>
              <a:t>and</a:t>
            </a:r>
            <a:r>
              <a:rPr dirty="0" spc="-25"/>
              <a:t> </a:t>
            </a:r>
            <a:r>
              <a:rPr dirty="0" spc="-20"/>
              <a:t>untrained</a:t>
            </a:r>
            <a:r>
              <a:rPr dirty="0" spc="-25"/>
              <a:t> </a:t>
            </a:r>
            <a:r>
              <a:rPr dirty="0" spc="-20"/>
              <a:t>caregivers, </a:t>
            </a:r>
            <a:r>
              <a:rPr dirty="0" spc="-10"/>
              <a:t>and</a:t>
            </a:r>
            <a:r>
              <a:rPr dirty="0" spc="-40"/>
              <a:t> </a:t>
            </a:r>
            <a:r>
              <a:rPr dirty="0"/>
              <a:t>costly</a:t>
            </a:r>
            <a:r>
              <a:rPr dirty="0" spc="-35"/>
              <a:t> </a:t>
            </a:r>
            <a:r>
              <a:rPr dirty="0" spc="-20"/>
              <a:t>full-</a:t>
            </a:r>
            <a:r>
              <a:rPr dirty="0"/>
              <a:t>time</a:t>
            </a:r>
            <a:r>
              <a:rPr dirty="0" spc="-30"/>
              <a:t> </a:t>
            </a:r>
            <a:r>
              <a:rPr dirty="0" spc="-20"/>
              <a:t>care</a:t>
            </a:r>
            <a:r>
              <a:rPr dirty="0" spc="-35"/>
              <a:t> </a:t>
            </a:r>
            <a:r>
              <a:rPr dirty="0" spc="-45"/>
              <a:t>needed</a:t>
            </a:r>
            <a:r>
              <a:rPr dirty="0" spc="-25"/>
              <a:t> </a:t>
            </a:r>
            <a:r>
              <a:rPr dirty="0" spc="-10"/>
              <a:t>earlier.</a:t>
            </a: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latin typeface="Arial Black"/>
                <a:cs typeface="Arial Black"/>
              </a:rPr>
              <a:t>Existing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170">
                <a:latin typeface="Arial Black"/>
                <a:cs typeface="Arial Black"/>
              </a:rPr>
              <a:t>Gaps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&amp;</a:t>
            </a:r>
            <a:r>
              <a:rPr dirty="0" sz="1100" spc="20">
                <a:latin typeface="Arial Black"/>
                <a:cs typeface="Arial Black"/>
              </a:rPr>
              <a:t> </a:t>
            </a:r>
            <a:r>
              <a:rPr dirty="0" sz="1100" spc="-130">
                <a:latin typeface="Arial Black"/>
                <a:cs typeface="Arial Black"/>
              </a:rPr>
              <a:t>Challenges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05354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3352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177210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7101" y="2208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979165"/>
            <a:ext cx="3688715" cy="1473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Tahoma"/>
                <a:cs typeface="Tahoma"/>
              </a:rPr>
              <a:t>Memory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clinics</a:t>
            </a:r>
            <a:r>
              <a:rPr dirty="0" sz="900" spc="-35">
                <a:latin typeface="Tahoma"/>
                <a:cs typeface="Tahoma"/>
              </a:rPr>
              <a:t> are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few,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far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45">
                <a:latin typeface="Tahoma"/>
                <a:cs typeface="Tahoma"/>
              </a:rPr>
              <a:t>away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and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costly.</a:t>
            </a:r>
            <a:endParaRPr sz="900">
              <a:latin typeface="Tahoma"/>
              <a:cs typeface="Tahoma"/>
            </a:endParaRPr>
          </a:p>
          <a:p>
            <a:pPr marL="12700" marR="329565">
              <a:lnSpc>
                <a:spcPct val="113100"/>
              </a:lnSpc>
              <a:spcBef>
                <a:spcPts val="994"/>
              </a:spcBef>
            </a:pPr>
            <a:r>
              <a:rPr dirty="0" sz="900" spc="-10">
                <a:latin typeface="Tahoma"/>
                <a:cs typeface="Tahoma"/>
              </a:rPr>
              <a:t>Brain-</a:t>
            </a:r>
            <a:r>
              <a:rPr dirty="0" sz="900">
                <a:latin typeface="Tahoma"/>
                <a:cs typeface="Tahoma"/>
              </a:rPr>
              <a:t>training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apps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are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made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for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healthy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adults,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45">
                <a:latin typeface="Tahoma"/>
                <a:cs typeface="Tahoma"/>
              </a:rPr>
              <a:t>need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internet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and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50">
                <a:latin typeface="Tahoma"/>
                <a:cs typeface="Tahoma"/>
              </a:rPr>
              <a:t>a </a:t>
            </a:r>
            <a:r>
              <a:rPr dirty="0" sz="900" spc="-20">
                <a:latin typeface="Tahoma"/>
                <a:cs typeface="Tahoma"/>
              </a:rPr>
              <a:t>subscription,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and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have</a:t>
            </a:r>
            <a:r>
              <a:rPr dirty="0" sz="900" spc="-20">
                <a:latin typeface="Tahoma"/>
                <a:cs typeface="Tahoma"/>
              </a:rPr>
              <a:t> confusing </a:t>
            </a:r>
            <a:r>
              <a:rPr dirty="0" sz="900" spc="-10">
                <a:latin typeface="Tahoma"/>
                <a:cs typeface="Tahoma"/>
              </a:rPr>
              <a:t>menus.</a:t>
            </a:r>
            <a:endParaRPr sz="900">
              <a:latin typeface="Tahoma"/>
              <a:cs typeface="Tahoma"/>
            </a:endParaRPr>
          </a:p>
          <a:p>
            <a:pPr marL="12700" marR="81915">
              <a:lnSpc>
                <a:spcPct val="113100"/>
              </a:lnSpc>
              <a:spcBef>
                <a:spcPts val="1000"/>
              </a:spcBef>
            </a:pPr>
            <a:r>
              <a:rPr dirty="0" sz="900" spc="-20">
                <a:latin typeface="Tahoma"/>
                <a:cs typeface="Tahoma"/>
              </a:rPr>
              <a:t>Reminder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apps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only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remind;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there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no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mental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exercise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and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caregiver </a:t>
            </a:r>
            <a:r>
              <a:rPr dirty="0" sz="900">
                <a:latin typeface="Tahoma"/>
                <a:cs typeface="Tahoma"/>
              </a:rPr>
              <a:t>must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set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up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and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check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everything.</a:t>
            </a:r>
            <a:endParaRPr sz="900">
              <a:latin typeface="Tahoma"/>
              <a:cs typeface="Tahoma"/>
            </a:endParaRPr>
          </a:p>
          <a:p>
            <a:pPr marL="12700" marR="5080">
              <a:lnSpc>
                <a:spcPct val="113100"/>
              </a:lnSpc>
              <a:spcBef>
                <a:spcPts val="994"/>
              </a:spcBef>
            </a:pPr>
            <a:r>
              <a:rPr dirty="0" sz="900" spc="-75">
                <a:latin typeface="Arial Black"/>
                <a:cs typeface="Arial Black"/>
              </a:rPr>
              <a:t>Still</a:t>
            </a:r>
            <a:r>
              <a:rPr dirty="0" sz="900">
                <a:latin typeface="Arial Black"/>
                <a:cs typeface="Arial Black"/>
              </a:rPr>
              <a:t> </a:t>
            </a:r>
            <a:r>
              <a:rPr dirty="0" sz="900" spc="-100">
                <a:latin typeface="Arial Black"/>
                <a:cs typeface="Arial Black"/>
              </a:rPr>
              <a:t>unsolved: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10">
                <a:latin typeface="Tahoma"/>
                <a:cs typeface="Tahoma"/>
              </a:rPr>
              <a:t>nothing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works </a:t>
            </a:r>
            <a:r>
              <a:rPr dirty="0" sz="900" spc="-20">
                <a:latin typeface="Tahoma"/>
                <a:cs typeface="Tahoma"/>
              </a:rPr>
              <a:t>offline,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is</a:t>
            </a:r>
            <a:r>
              <a:rPr dirty="0" sz="900" spc="-20">
                <a:latin typeface="Tahoma"/>
                <a:cs typeface="Tahoma"/>
              </a:rPr>
              <a:t> simple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enough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for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patient,</a:t>
            </a:r>
            <a:r>
              <a:rPr dirty="0" sz="900" spc="-25">
                <a:latin typeface="Tahoma"/>
                <a:cs typeface="Tahoma"/>
              </a:rPr>
              <a:t> and </a:t>
            </a:r>
            <a:r>
              <a:rPr dirty="0" sz="900" spc="-10">
                <a:latin typeface="Tahoma"/>
                <a:cs typeface="Tahoma"/>
              </a:rPr>
              <a:t>also</a:t>
            </a:r>
            <a:r>
              <a:rPr dirty="0" sz="900" spc="-35">
                <a:latin typeface="Tahoma"/>
                <a:cs typeface="Tahoma"/>
              </a:rPr>
              <a:t> shows progress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family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and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doctor.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Arial Black"/>
                <a:cs typeface="Arial Black"/>
              </a:rPr>
              <a:t>Our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35">
                <a:latin typeface="Arial Black"/>
                <a:cs typeface="Arial Black"/>
              </a:rPr>
              <a:t>Proposed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Solution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9914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42834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186519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7101" y="230206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898579"/>
            <a:ext cx="3818890" cy="164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8745">
              <a:lnSpc>
                <a:spcPct val="113100"/>
              </a:lnSpc>
              <a:spcBef>
                <a:spcPts val="100"/>
              </a:spcBef>
            </a:pPr>
            <a:r>
              <a:rPr dirty="0" sz="900" spc="75">
                <a:latin typeface="Tahoma"/>
                <a:cs typeface="Tahoma"/>
              </a:rPr>
              <a:t>A</a:t>
            </a:r>
            <a:r>
              <a:rPr dirty="0" sz="900" spc="-20">
                <a:latin typeface="Tahoma"/>
                <a:cs typeface="Tahoma"/>
              </a:rPr>
              <a:t> simple </a:t>
            </a:r>
            <a:r>
              <a:rPr dirty="0" sz="900">
                <a:latin typeface="Tahoma"/>
                <a:cs typeface="Tahoma"/>
              </a:rPr>
              <a:t>Android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app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with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short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memory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games,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built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around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patient’s </a:t>
            </a:r>
            <a:r>
              <a:rPr dirty="0" sz="900" spc="-20">
                <a:latin typeface="Tahoma"/>
                <a:cs typeface="Tahoma"/>
              </a:rPr>
              <a:t>own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family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photos,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familiar</a:t>
            </a:r>
            <a:r>
              <a:rPr dirty="0" sz="900" spc="-30">
                <a:latin typeface="Tahoma"/>
                <a:cs typeface="Tahoma"/>
              </a:rPr>
              <a:t> songs </a:t>
            </a:r>
            <a:r>
              <a:rPr dirty="0" sz="900" spc="-10">
                <a:latin typeface="Tahoma"/>
                <a:cs typeface="Tahoma"/>
              </a:rPr>
              <a:t>and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voice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in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their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language.</a:t>
            </a:r>
            <a:endParaRPr sz="900">
              <a:latin typeface="Tahoma"/>
              <a:cs typeface="Tahoma"/>
            </a:endParaRPr>
          </a:p>
          <a:p>
            <a:pPr marL="12700" marR="132715">
              <a:lnSpc>
                <a:spcPct val="113100"/>
              </a:lnSpc>
              <a:spcBef>
                <a:spcPts val="994"/>
              </a:spcBef>
            </a:pPr>
            <a:r>
              <a:rPr dirty="0" sz="900" spc="-20">
                <a:latin typeface="Tahoma"/>
                <a:cs typeface="Tahoma"/>
              </a:rPr>
              <a:t>Games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have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no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wrong</a:t>
            </a:r>
            <a:r>
              <a:rPr dirty="0" sz="900" spc="-35">
                <a:latin typeface="Tahoma"/>
                <a:cs typeface="Tahoma"/>
              </a:rPr>
              <a:t> answers,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so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patient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is</a:t>
            </a:r>
            <a:r>
              <a:rPr dirty="0" sz="900" spc="-30">
                <a:latin typeface="Tahoma"/>
                <a:cs typeface="Tahoma"/>
              </a:rPr>
              <a:t> never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made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feel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tested. </a:t>
            </a:r>
            <a:r>
              <a:rPr dirty="0" sz="900">
                <a:latin typeface="Tahoma"/>
                <a:cs typeface="Tahoma"/>
              </a:rPr>
              <a:t>Difficulty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adjusts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how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they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did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that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day.</a:t>
            </a:r>
            <a:endParaRPr sz="900">
              <a:latin typeface="Tahoma"/>
              <a:cs typeface="Tahoma"/>
            </a:endParaRPr>
          </a:p>
          <a:p>
            <a:pPr marL="12700" marR="36195">
              <a:lnSpc>
                <a:spcPct val="113100"/>
              </a:lnSpc>
              <a:spcBef>
                <a:spcPts val="1000"/>
              </a:spcBef>
            </a:pPr>
            <a:r>
              <a:rPr dirty="0" sz="900" spc="-20">
                <a:latin typeface="Tahoma"/>
                <a:cs typeface="Tahoma"/>
              </a:rPr>
              <a:t>Spoken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reminders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for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medicines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and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meals.</a:t>
            </a:r>
            <a:r>
              <a:rPr dirty="0" sz="900" spc="70">
                <a:latin typeface="Tahoma"/>
                <a:cs typeface="Tahoma"/>
              </a:rPr>
              <a:t> </a:t>
            </a:r>
            <a:r>
              <a:rPr dirty="0" sz="900" spc="75">
                <a:latin typeface="Tahoma"/>
                <a:cs typeface="Tahoma"/>
              </a:rPr>
              <a:t>A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weekly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progress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summary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goes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family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and,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if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they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40">
                <a:latin typeface="Tahoma"/>
                <a:cs typeface="Tahoma"/>
              </a:rPr>
              <a:t>agree,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doctor.</a:t>
            </a:r>
            <a:endParaRPr sz="900">
              <a:latin typeface="Tahoma"/>
              <a:cs typeface="Tahoma"/>
            </a:endParaRPr>
          </a:p>
          <a:p>
            <a:pPr marL="12700" marR="5080">
              <a:lnSpc>
                <a:spcPct val="113100"/>
              </a:lnSpc>
              <a:spcBef>
                <a:spcPts val="994"/>
              </a:spcBef>
            </a:pP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caregiver</a:t>
            </a:r>
            <a:r>
              <a:rPr dirty="0" sz="900" spc="-20">
                <a:latin typeface="Tahoma"/>
                <a:cs typeface="Tahoma"/>
              </a:rPr>
              <a:t> sets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it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up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once;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after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that,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patient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starts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session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with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one large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button.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269365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5">
                <a:latin typeface="Arial Black"/>
                <a:cs typeface="Arial Black"/>
              </a:rPr>
              <a:t>Technical</a:t>
            </a:r>
            <a:r>
              <a:rPr dirty="0" sz="1100" spc="80">
                <a:latin typeface="Arial Black"/>
                <a:cs typeface="Arial Black"/>
              </a:rPr>
              <a:t> </a:t>
            </a:r>
            <a:r>
              <a:rPr dirty="0" sz="1100" spc="-120">
                <a:latin typeface="Arial Black"/>
                <a:cs typeface="Arial Black"/>
              </a:rPr>
              <a:t>Approach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323977" y="826643"/>
            <a:ext cx="875665" cy="329565"/>
            <a:chOff x="323977" y="826643"/>
            <a:chExt cx="875665" cy="329565"/>
          </a:xfrm>
        </p:grpSpPr>
        <p:sp>
          <p:nvSpPr>
            <p:cNvPr id="7" name="object 7"/>
            <p:cNvSpPr/>
            <p:nvPr/>
          </p:nvSpPr>
          <p:spPr>
            <a:xfrm>
              <a:off x="326517" y="829183"/>
              <a:ext cx="870585" cy="324485"/>
            </a:xfrm>
            <a:custGeom>
              <a:avLst/>
              <a:gdLst/>
              <a:ahLst/>
              <a:cxnLst/>
              <a:rect l="l" t="t" r="r" b="b"/>
              <a:pathLst>
                <a:path w="870585" h="324484">
                  <a:moveTo>
                    <a:pt x="832066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286043"/>
                  </a:lnTo>
                  <a:lnTo>
                    <a:pt x="2982" y="300818"/>
                  </a:lnTo>
                  <a:lnTo>
                    <a:pt x="11117" y="312884"/>
                  </a:lnTo>
                  <a:lnTo>
                    <a:pt x="23183" y="321018"/>
                  </a:lnTo>
                  <a:lnTo>
                    <a:pt x="37958" y="324001"/>
                  </a:lnTo>
                  <a:lnTo>
                    <a:pt x="832066" y="324001"/>
                  </a:lnTo>
                  <a:lnTo>
                    <a:pt x="846841" y="321018"/>
                  </a:lnTo>
                  <a:lnTo>
                    <a:pt x="858906" y="312884"/>
                  </a:lnTo>
                  <a:lnTo>
                    <a:pt x="867041" y="300818"/>
                  </a:lnTo>
                  <a:lnTo>
                    <a:pt x="870024" y="286043"/>
                  </a:lnTo>
                  <a:lnTo>
                    <a:pt x="870024" y="37958"/>
                  </a:lnTo>
                  <a:lnTo>
                    <a:pt x="867041" y="23182"/>
                  </a:lnTo>
                  <a:lnTo>
                    <a:pt x="858906" y="11117"/>
                  </a:lnTo>
                  <a:lnTo>
                    <a:pt x="846841" y="2982"/>
                  </a:lnTo>
                  <a:lnTo>
                    <a:pt x="832066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6517" y="829183"/>
              <a:ext cx="870585" cy="324485"/>
            </a:xfrm>
            <a:custGeom>
              <a:avLst/>
              <a:gdLst/>
              <a:ahLst/>
              <a:cxnLst/>
              <a:rect l="l" t="t" r="r" b="b"/>
              <a:pathLst>
                <a:path w="870585" h="324484">
                  <a:moveTo>
                    <a:pt x="832066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286043"/>
                  </a:lnTo>
                  <a:lnTo>
                    <a:pt x="2982" y="300818"/>
                  </a:lnTo>
                  <a:lnTo>
                    <a:pt x="11117" y="312884"/>
                  </a:lnTo>
                  <a:lnTo>
                    <a:pt x="23183" y="321018"/>
                  </a:lnTo>
                  <a:lnTo>
                    <a:pt x="37958" y="324001"/>
                  </a:lnTo>
                  <a:lnTo>
                    <a:pt x="832066" y="324001"/>
                  </a:lnTo>
                  <a:lnTo>
                    <a:pt x="846841" y="321018"/>
                  </a:lnTo>
                  <a:lnTo>
                    <a:pt x="858906" y="312884"/>
                  </a:lnTo>
                  <a:lnTo>
                    <a:pt x="867041" y="300818"/>
                  </a:lnTo>
                  <a:lnTo>
                    <a:pt x="870024" y="286043"/>
                  </a:lnTo>
                  <a:lnTo>
                    <a:pt x="870024" y="37958"/>
                  </a:lnTo>
                  <a:lnTo>
                    <a:pt x="867041" y="23182"/>
                  </a:lnTo>
                  <a:lnTo>
                    <a:pt x="858906" y="11117"/>
                  </a:lnTo>
                  <a:lnTo>
                    <a:pt x="846841" y="2982"/>
                  </a:lnTo>
                  <a:lnTo>
                    <a:pt x="832066" y="0"/>
                  </a:lnTo>
                  <a:close/>
                </a:path>
              </a:pathLst>
            </a:custGeom>
            <a:ln w="5060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70179" y="848280"/>
            <a:ext cx="783590" cy="2527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36854">
              <a:lnSpc>
                <a:spcPct val="106300"/>
              </a:lnSpc>
              <a:spcBef>
                <a:spcPts val="100"/>
              </a:spcBef>
            </a:pPr>
            <a:r>
              <a:rPr dirty="0" sz="700" spc="-10">
                <a:latin typeface="Arial"/>
                <a:cs typeface="Arial"/>
              </a:rPr>
              <a:t>Patient</a:t>
            </a:r>
            <a:r>
              <a:rPr dirty="0" sz="700" spc="500">
                <a:latin typeface="Arial"/>
                <a:cs typeface="Arial"/>
              </a:rPr>
              <a:t> </a:t>
            </a:r>
            <a:r>
              <a:rPr dirty="0" sz="700" spc="-30">
                <a:latin typeface="Arial"/>
                <a:cs typeface="Arial"/>
              </a:rPr>
              <a:t>games</a:t>
            </a:r>
            <a:r>
              <a:rPr dirty="0" sz="700" spc="30">
                <a:latin typeface="Arial"/>
                <a:cs typeface="Arial"/>
              </a:rPr>
              <a:t> </a:t>
            </a:r>
            <a:r>
              <a:rPr dirty="0" sz="700" spc="95">
                <a:latin typeface="Arial"/>
                <a:cs typeface="Arial"/>
              </a:rPr>
              <a:t>&amp;</a:t>
            </a:r>
            <a:r>
              <a:rPr dirty="0" sz="700" spc="30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reminders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03991" y="826643"/>
            <a:ext cx="875665" cy="329565"/>
            <a:chOff x="1403991" y="826643"/>
            <a:chExt cx="875665" cy="329565"/>
          </a:xfrm>
        </p:grpSpPr>
        <p:sp>
          <p:nvSpPr>
            <p:cNvPr id="11" name="object 11"/>
            <p:cNvSpPr/>
            <p:nvPr/>
          </p:nvSpPr>
          <p:spPr>
            <a:xfrm>
              <a:off x="1406531" y="829183"/>
              <a:ext cx="870585" cy="324485"/>
            </a:xfrm>
            <a:custGeom>
              <a:avLst/>
              <a:gdLst/>
              <a:ahLst/>
              <a:cxnLst/>
              <a:rect l="l" t="t" r="r" b="b"/>
              <a:pathLst>
                <a:path w="870585" h="324484">
                  <a:moveTo>
                    <a:pt x="83206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286043"/>
                  </a:lnTo>
                  <a:lnTo>
                    <a:pt x="2982" y="300818"/>
                  </a:lnTo>
                  <a:lnTo>
                    <a:pt x="11117" y="312884"/>
                  </a:lnTo>
                  <a:lnTo>
                    <a:pt x="23182" y="321018"/>
                  </a:lnTo>
                  <a:lnTo>
                    <a:pt x="37958" y="324001"/>
                  </a:lnTo>
                  <a:lnTo>
                    <a:pt x="832066" y="324001"/>
                  </a:lnTo>
                  <a:lnTo>
                    <a:pt x="846841" y="321018"/>
                  </a:lnTo>
                  <a:lnTo>
                    <a:pt x="858906" y="312884"/>
                  </a:lnTo>
                  <a:lnTo>
                    <a:pt x="867041" y="300818"/>
                  </a:lnTo>
                  <a:lnTo>
                    <a:pt x="870024" y="286043"/>
                  </a:lnTo>
                  <a:lnTo>
                    <a:pt x="870024" y="37958"/>
                  </a:lnTo>
                  <a:lnTo>
                    <a:pt x="867041" y="23182"/>
                  </a:lnTo>
                  <a:lnTo>
                    <a:pt x="858906" y="11117"/>
                  </a:lnTo>
                  <a:lnTo>
                    <a:pt x="846841" y="2982"/>
                  </a:lnTo>
                  <a:lnTo>
                    <a:pt x="832066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406531" y="829183"/>
              <a:ext cx="870585" cy="324485"/>
            </a:xfrm>
            <a:custGeom>
              <a:avLst/>
              <a:gdLst/>
              <a:ahLst/>
              <a:cxnLst/>
              <a:rect l="l" t="t" r="r" b="b"/>
              <a:pathLst>
                <a:path w="870585" h="324484">
                  <a:moveTo>
                    <a:pt x="83206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286043"/>
                  </a:lnTo>
                  <a:lnTo>
                    <a:pt x="2982" y="300818"/>
                  </a:lnTo>
                  <a:lnTo>
                    <a:pt x="11117" y="312884"/>
                  </a:lnTo>
                  <a:lnTo>
                    <a:pt x="23182" y="321018"/>
                  </a:lnTo>
                  <a:lnTo>
                    <a:pt x="37958" y="324001"/>
                  </a:lnTo>
                  <a:lnTo>
                    <a:pt x="832066" y="324001"/>
                  </a:lnTo>
                  <a:lnTo>
                    <a:pt x="846841" y="321018"/>
                  </a:lnTo>
                  <a:lnTo>
                    <a:pt x="858906" y="312884"/>
                  </a:lnTo>
                  <a:lnTo>
                    <a:pt x="867041" y="300818"/>
                  </a:lnTo>
                  <a:lnTo>
                    <a:pt x="870024" y="286043"/>
                  </a:lnTo>
                  <a:lnTo>
                    <a:pt x="870024" y="37958"/>
                  </a:lnTo>
                  <a:lnTo>
                    <a:pt x="867041" y="23182"/>
                  </a:lnTo>
                  <a:lnTo>
                    <a:pt x="858906" y="11117"/>
                  </a:lnTo>
                  <a:lnTo>
                    <a:pt x="846841" y="2982"/>
                  </a:lnTo>
                  <a:lnTo>
                    <a:pt x="832066" y="0"/>
                  </a:lnTo>
                  <a:close/>
                </a:path>
              </a:pathLst>
            </a:custGeom>
            <a:ln w="5060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548168" y="845842"/>
            <a:ext cx="587375" cy="2527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0">
              <a:lnSpc>
                <a:spcPct val="106300"/>
              </a:lnSpc>
              <a:spcBef>
                <a:spcPts val="100"/>
              </a:spcBef>
            </a:pPr>
            <a:r>
              <a:rPr dirty="0" sz="700">
                <a:latin typeface="Arial"/>
                <a:cs typeface="Arial"/>
              </a:rPr>
              <a:t>Phone</a:t>
            </a:r>
            <a:r>
              <a:rPr dirty="0" sz="700" spc="-35">
                <a:latin typeface="Arial"/>
                <a:cs typeface="Arial"/>
              </a:rPr>
              <a:t> </a:t>
            </a:r>
            <a:r>
              <a:rPr dirty="0" sz="700" spc="-30">
                <a:latin typeface="Arial"/>
                <a:cs typeface="Arial"/>
              </a:rPr>
              <a:t>storage</a:t>
            </a:r>
            <a:r>
              <a:rPr dirty="0" sz="700" spc="5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(works</a:t>
            </a:r>
            <a:r>
              <a:rPr dirty="0" sz="700" spc="-1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offline)</a:t>
            </a:r>
            <a:endParaRPr sz="7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8174" y="858859"/>
            <a:ext cx="14732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0">
                <a:solidFill>
                  <a:srgbClr val="226846"/>
                </a:solidFill>
                <a:latin typeface="Arial"/>
                <a:cs typeface="Arial"/>
              </a:rPr>
              <a:t>sync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84004" y="794444"/>
            <a:ext cx="875665" cy="393700"/>
            <a:chOff x="2484004" y="794444"/>
            <a:chExt cx="875665" cy="393700"/>
          </a:xfrm>
        </p:grpSpPr>
        <p:sp>
          <p:nvSpPr>
            <p:cNvPr id="15" name="object 15"/>
            <p:cNvSpPr/>
            <p:nvPr/>
          </p:nvSpPr>
          <p:spPr>
            <a:xfrm>
              <a:off x="2486544" y="796984"/>
              <a:ext cx="870585" cy="388620"/>
            </a:xfrm>
            <a:custGeom>
              <a:avLst/>
              <a:gdLst/>
              <a:ahLst/>
              <a:cxnLst/>
              <a:rect l="l" t="t" r="r" b="b"/>
              <a:pathLst>
                <a:path w="870585" h="388619">
                  <a:moveTo>
                    <a:pt x="83206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50440"/>
                  </a:lnTo>
                  <a:lnTo>
                    <a:pt x="2982" y="365215"/>
                  </a:lnTo>
                  <a:lnTo>
                    <a:pt x="11117" y="377281"/>
                  </a:lnTo>
                  <a:lnTo>
                    <a:pt x="23182" y="385415"/>
                  </a:lnTo>
                  <a:lnTo>
                    <a:pt x="37958" y="388398"/>
                  </a:lnTo>
                  <a:lnTo>
                    <a:pt x="832066" y="388398"/>
                  </a:lnTo>
                  <a:lnTo>
                    <a:pt x="846841" y="385415"/>
                  </a:lnTo>
                  <a:lnTo>
                    <a:pt x="858906" y="377281"/>
                  </a:lnTo>
                  <a:lnTo>
                    <a:pt x="867041" y="365215"/>
                  </a:lnTo>
                  <a:lnTo>
                    <a:pt x="870024" y="350440"/>
                  </a:lnTo>
                  <a:lnTo>
                    <a:pt x="870024" y="37958"/>
                  </a:lnTo>
                  <a:lnTo>
                    <a:pt x="867041" y="23182"/>
                  </a:lnTo>
                  <a:lnTo>
                    <a:pt x="858906" y="11117"/>
                  </a:lnTo>
                  <a:lnTo>
                    <a:pt x="846841" y="2982"/>
                  </a:lnTo>
                  <a:lnTo>
                    <a:pt x="832066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486544" y="796984"/>
              <a:ext cx="870585" cy="388620"/>
            </a:xfrm>
            <a:custGeom>
              <a:avLst/>
              <a:gdLst/>
              <a:ahLst/>
              <a:cxnLst/>
              <a:rect l="l" t="t" r="r" b="b"/>
              <a:pathLst>
                <a:path w="870585" h="388619">
                  <a:moveTo>
                    <a:pt x="83206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50440"/>
                  </a:lnTo>
                  <a:lnTo>
                    <a:pt x="2982" y="365215"/>
                  </a:lnTo>
                  <a:lnTo>
                    <a:pt x="11117" y="377281"/>
                  </a:lnTo>
                  <a:lnTo>
                    <a:pt x="23182" y="385415"/>
                  </a:lnTo>
                  <a:lnTo>
                    <a:pt x="37958" y="388398"/>
                  </a:lnTo>
                  <a:lnTo>
                    <a:pt x="832066" y="388398"/>
                  </a:lnTo>
                  <a:lnTo>
                    <a:pt x="846841" y="385415"/>
                  </a:lnTo>
                  <a:lnTo>
                    <a:pt x="858906" y="377281"/>
                  </a:lnTo>
                  <a:lnTo>
                    <a:pt x="867041" y="365215"/>
                  </a:lnTo>
                  <a:lnTo>
                    <a:pt x="870024" y="350440"/>
                  </a:lnTo>
                  <a:lnTo>
                    <a:pt x="870024" y="37958"/>
                  </a:lnTo>
                  <a:lnTo>
                    <a:pt x="867041" y="23182"/>
                  </a:lnTo>
                  <a:lnTo>
                    <a:pt x="858906" y="11117"/>
                  </a:lnTo>
                  <a:lnTo>
                    <a:pt x="846841" y="2982"/>
                  </a:lnTo>
                  <a:lnTo>
                    <a:pt x="832066" y="0"/>
                  </a:lnTo>
                  <a:close/>
                </a:path>
              </a:pathLst>
            </a:custGeom>
            <a:ln w="5060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1193992" y="964867"/>
            <a:ext cx="1290320" cy="52705"/>
            <a:chOff x="1193992" y="964867"/>
            <a:chExt cx="1290320" cy="52705"/>
          </a:xfrm>
        </p:grpSpPr>
        <p:sp>
          <p:nvSpPr>
            <p:cNvPr id="27" name="object 27"/>
            <p:cNvSpPr/>
            <p:nvPr/>
          </p:nvSpPr>
          <p:spPr>
            <a:xfrm>
              <a:off x="1199072" y="991184"/>
              <a:ext cx="172085" cy="0"/>
            </a:xfrm>
            <a:custGeom>
              <a:avLst/>
              <a:gdLst/>
              <a:ahLst/>
              <a:cxnLst/>
              <a:rect l="l" t="t" r="r" b="b"/>
              <a:pathLst>
                <a:path w="172084" h="0">
                  <a:moveTo>
                    <a:pt x="0" y="0"/>
                  </a:moveTo>
                  <a:lnTo>
                    <a:pt x="172031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351366" y="964867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279086" y="991184"/>
              <a:ext cx="172085" cy="0"/>
            </a:xfrm>
            <a:custGeom>
              <a:avLst/>
              <a:gdLst/>
              <a:ahLst/>
              <a:cxnLst/>
              <a:rect l="l" t="t" r="r" b="b"/>
              <a:pathLst>
                <a:path w="172085" h="0">
                  <a:moveTo>
                    <a:pt x="0" y="0"/>
                  </a:moveTo>
                  <a:lnTo>
                    <a:pt x="172031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431380" y="964867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657729" y="789136"/>
            <a:ext cx="527685" cy="365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06300"/>
              </a:lnSpc>
              <a:spcBef>
                <a:spcPts val="100"/>
              </a:spcBef>
            </a:pPr>
            <a:r>
              <a:rPr dirty="0" sz="700" spc="-10">
                <a:latin typeface="Arial"/>
                <a:cs typeface="Arial"/>
              </a:rPr>
              <a:t>Cloud</a:t>
            </a:r>
            <a:r>
              <a:rPr dirty="0" sz="700" spc="500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(synced</a:t>
            </a:r>
            <a:r>
              <a:rPr dirty="0" sz="700" spc="5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when</a:t>
            </a:r>
            <a:r>
              <a:rPr dirty="0" sz="700" spc="-3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online)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403991" y="1366649"/>
            <a:ext cx="875665" cy="329565"/>
            <a:chOff x="1403991" y="1366649"/>
            <a:chExt cx="875665" cy="329565"/>
          </a:xfrm>
        </p:grpSpPr>
        <p:sp>
          <p:nvSpPr>
            <p:cNvPr id="23" name="object 23"/>
            <p:cNvSpPr/>
            <p:nvPr/>
          </p:nvSpPr>
          <p:spPr>
            <a:xfrm>
              <a:off x="1406531" y="1369189"/>
              <a:ext cx="870585" cy="324485"/>
            </a:xfrm>
            <a:custGeom>
              <a:avLst/>
              <a:gdLst/>
              <a:ahLst/>
              <a:cxnLst/>
              <a:rect l="l" t="t" r="r" b="b"/>
              <a:pathLst>
                <a:path w="870585" h="324485">
                  <a:moveTo>
                    <a:pt x="83206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286043"/>
                  </a:lnTo>
                  <a:lnTo>
                    <a:pt x="2982" y="300818"/>
                  </a:lnTo>
                  <a:lnTo>
                    <a:pt x="11117" y="312884"/>
                  </a:lnTo>
                  <a:lnTo>
                    <a:pt x="23182" y="321018"/>
                  </a:lnTo>
                  <a:lnTo>
                    <a:pt x="37958" y="324001"/>
                  </a:lnTo>
                  <a:lnTo>
                    <a:pt x="832066" y="324001"/>
                  </a:lnTo>
                  <a:lnTo>
                    <a:pt x="846841" y="321018"/>
                  </a:lnTo>
                  <a:lnTo>
                    <a:pt x="858906" y="312884"/>
                  </a:lnTo>
                  <a:lnTo>
                    <a:pt x="867041" y="300818"/>
                  </a:lnTo>
                  <a:lnTo>
                    <a:pt x="870024" y="286043"/>
                  </a:lnTo>
                  <a:lnTo>
                    <a:pt x="870024" y="37958"/>
                  </a:lnTo>
                  <a:lnTo>
                    <a:pt x="867041" y="23182"/>
                  </a:lnTo>
                  <a:lnTo>
                    <a:pt x="858906" y="11117"/>
                  </a:lnTo>
                  <a:lnTo>
                    <a:pt x="846841" y="2982"/>
                  </a:lnTo>
                  <a:lnTo>
                    <a:pt x="832066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406531" y="1369189"/>
              <a:ext cx="870585" cy="324485"/>
            </a:xfrm>
            <a:custGeom>
              <a:avLst/>
              <a:gdLst/>
              <a:ahLst/>
              <a:cxnLst/>
              <a:rect l="l" t="t" r="r" b="b"/>
              <a:pathLst>
                <a:path w="870585" h="324485">
                  <a:moveTo>
                    <a:pt x="83206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286043"/>
                  </a:lnTo>
                  <a:lnTo>
                    <a:pt x="2982" y="300818"/>
                  </a:lnTo>
                  <a:lnTo>
                    <a:pt x="11117" y="312884"/>
                  </a:lnTo>
                  <a:lnTo>
                    <a:pt x="23182" y="321018"/>
                  </a:lnTo>
                  <a:lnTo>
                    <a:pt x="37958" y="324001"/>
                  </a:lnTo>
                  <a:lnTo>
                    <a:pt x="832066" y="324001"/>
                  </a:lnTo>
                  <a:lnTo>
                    <a:pt x="846841" y="321018"/>
                  </a:lnTo>
                  <a:lnTo>
                    <a:pt x="858906" y="312884"/>
                  </a:lnTo>
                  <a:lnTo>
                    <a:pt x="867041" y="300818"/>
                  </a:lnTo>
                  <a:lnTo>
                    <a:pt x="870024" y="286043"/>
                  </a:lnTo>
                  <a:lnTo>
                    <a:pt x="870024" y="37958"/>
                  </a:lnTo>
                  <a:lnTo>
                    <a:pt x="867041" y="23182"/>
                  </a:lnTo>
                  <a:lnTo>
                    <a:pt x="858906" y="11117"/>
                  </a:lnTo>
                  <a:lnTo>
                    <a:pt x="846841" y="2982"/>
                  </a:lnTo>
                  <a:lnTo>
                    <a:pt x="832066" y="0"/>
                  </a:lnTo>
                  <a:close/>
                </a:path>
              </a:pathLst>
            </a:custGeom>
            <a:ln w="5060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647088" y="1388297"/>
            <a:ext cx="389255" cy="2527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9535" marR="5080" indent="-77470">
              <a:lnSpc>
                <a:spcPct val="106300"/>
              </a:lnSpc>
              <a:spcBef>
                <a:spcPts val="100"/>
              </a:spcBef>
            </a:pPr>
            <a:r>
              <a:rPr dirty="0" sz="700" spc="-30">
                <a:latin typeface="Arial"/>
                <a:cs typeface="Arial"/>
              </a:rPr>
              <a:t>Caregiver</a:t>
            </a:r>
            <a:r>
              <a:rPr dirty="0" sz="700" spc="500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setup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484004" y="1366649"/>
            <a:ext cx="875665" cy="329565"/>
            <a:chOff x="2484004" y="1366649"/>
            <a:chExt cx="875665" cy="329565"/>
          </a:xfrm>
        </p:grpSpPr>
        <p:sp>
          <p:nvSpPr>
            <p:cNvPr id="19" name="object 19"/>
            <p:cNvSpPr/>
            <p:nvPr/>
          </p:nvSpPr>
          <p:spPr>
            <a:xfrm>
              <a:off x="2486544" y="1369189"/>
              <a:ext cx="870585" cy="324485"/>
            </a:xfrm>
            <a:custGeom>
              <a:avLst/>
              <a:gdLst/>
              <a:ahLst/>
              <a:cxnLst/>
              <a:rect l="l" t="t" r="r" b="b"/>
              <a:pathLst>
                <a:path w="870585" h="324485">
                  <a:moveTo>
                    <a:pt x="83206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286043"/>
                  </a:lnTo>
                  <a:lnTo>
                    <a:pt x="2982" y="300818"/>
                  </a:lnTo>
                  <a:lnTo>
                    <a:pt x="11117" y="312884"/>
                  </a:lnTo>
                  <a:lnTo>
                    <a:pt x="23182" y="321018"/>
                  </a:lnTo>
                  <a:lnTo>
                    <a:pt x="37958" y="324001"/>
                  </a:lnTo>
                  <a:lnTo>
                    <a:pt x="832066" y="324001"/>
                  </a:lnTo>
                  <a:lnTo>
                    <a:pt x="846841" y="321018"/>
                  </a:lnTo>
                  <a:lnTo>
                    <a:pt x="858906" y="312884"/>
                  </a:lnTo>
                  <a:lnTo>
                    <a:pt x="867041" y="300818"/>
                  </a:lnTo>
                  <a:lnTo>
                    <a:pt x="870024" y="286043"/>
                  </a:lnTo>
                  <a:lnTo>
                    <a:pt x="870024" y="37958"/>
                  </a:lnTo>
                  <a:lnTo>
                    <a:pt x="867041" y="23182"/>
                  </a:lnTo>
                  <a:lnTo>
                    <a:pt x="858906" y="11117"/>
                  </a:lnTo>
                  <a:lnTo>
                    <a:pt x="846841" y="2982"/>
                  </a:lnTo>
                  <a:lnTo>
                    <a:pt x="832066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486544" y="1369189"/>
              <a:ext cx="870585" cy="324485"/>
            </a:xfrm>
            <a:custGeom>
              <a:avLst/>
              <a:gdLst/>
              <a:ahLst/>
              <a:cxnLst/>
              <a:rect l="l" t="t" r="r" b="b"/>
              <a:pathLst>
                <a:path w="870585" h="324485">
                  <a:moveTo>
                    <a:pt x="83206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286043"/>
                  </a:lnTo>
                  <a:lnTo>
                    <a:pt x="2982" y="300818"/>
                  </a:lnTo>
                  <a:lnTo>
                    <a:pt x="11117" y="312884"/>
                  </a:lnTo>
                  <a:lnTo>
                    <a:pt x="23182" y="321018"/>
                  </a:lnTo>
                  <a:lnTo>
                    <a:pt x="37958" y="324001"/>
                  </a:lnTo>
                  <a:lnTo>
                    <a:pt x="832066" y="324001"/>
                  </a:lnTo>
                  <a:lnTo>
                    <a:pt x="846841" y="321018"/>
                  </a:lnTo>
                  <a:lnTo>
                    <a:pt x="858906" y="312884"/>
                  </a:lnTo>
                  <a:lnTo>
                    <a:pt x="867041" y="300818"/>
                  </a:lnTo>
                  <a:lnTo>
                    <a:pt x="870024" y="286043"/>
                  </a:lnTo>
                  <a:lnTo>
                    <a:pt x="870024" y="37958"/>
                  </a:lnTo>
                  <a:lnTo>
                    <a:pt x="867041" y="23182"/>
                  </a:lnTo>
                  <a:lnTo>
                    <a:pt x="858906" y="11117"/>
                  </a:lnTo>
                  <a:lnTo>
                    <a:pt x="846841" y="2982"/>
                  </a:lnTo>
                  <a:lnTo>
                    <a:pt x="832066" y="0"/>
                  </a:lnTo>
                  <a:close/>
                </a:path>
              </a:pathLst>
            </a:custGeom>
            <a:ln w="5060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1815226" y="1155715"/>
            <a:ext cx="1132840" cy="211454"/>
            <a:chOff x="1815226" y="1155715"/>
            <a:chExt cx="1132840" cy="211454"/>
          </a:xfrm>
        </p:grpSpPr>
        <p:sp>
          <p:nvSpPr>
            <p:cNvPr id="33" name="object 33"/>
            <p:cNvSpPr/>
            <p:nvPr/>
          </p:nvSpPr>
          <p:spPr>
            <a:xfrm>
              <a:off x="2921556" y="1187914"/>
              <a:ext cx="0" cy="146050"/>
            </a:xfrm>
            <a:custGeom>
              <a:avLst/>
              <a:gdLst/>
              <a:ahLst/>
              <a:cxnLst/>
              <a:rect l="l" t="t" r="r" b="b"/>
              <a:pathLst>
                <a:path w="0" h="146050">
                  <a:moveTo>
                    <a:pt x="0" y="0"/>
                  </a:moveTo>
                  <a:lnTo>
                    <a:pt x="0" y="145848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895240" y="131402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52633" y="0"/>
                  </a:moveTo>
                  <a:lnTo>
                    <a:pt x="26316" y="19737"/>
                  </a:lnTo>
                  <a:lnTo>
                    <a:pt x="0" y="0"/>
                  </a:lnTo>
                  <a:lnTo>
                    <a:pt x="26316" y="52634"/>
                  </a:lnTo>
                  <a:lnTo>
                    <a:pt x="52633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841543" y="1188611"/>
              <a:ext cx="0" cy="178435"/>
            </a:xfrm>
            <a:custGeom>
              <a:avLst/>
              <a:gdLst/>
              <a:ahLst/>
              <a:cxnLst/>
              <a:rect l="l" t="t" r="r" b="b"/>
              <a:pathLst>
                <a:path w="0" h="178434">
                  <a:moveTo>
                    <a:pt x="0" y="178047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815226" y="115571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52634"/>
                  </a:moveTo>
                  <a:lnTo>
                    <a:pt x="26316" y="32896"/>
                  </a:lnTo>
                  <a:lnTo>
                    <a:pt x="52633" y="52634"/>
                  </a:lnTo>
                  <a:lnTo>
                    <a:pt x="26316" y="0"/>
                  </a:lnTo>
                  <a:lnTo>
                    <a:pt x="0" y="52634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2634437" y="1452057"/>
            <a:ext cx="5740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latin typeface="Arial"/>
                <a:cs typeface="Arial"/>
              </a:rPr>
              <a:t>Weekly</a:t>
            </a:r>
            <a:r>
              <a:rPr dirty="0" sz="700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report</a:t>
            </a:r>
            <a:endParaRPr sz="7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59911" y="1452057"/>
            <a:ext cx="7404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Arial"/>
                <a:cs typeface="Arial"/>
              </a:rPr>
              <a:t>Family</a:t>
            </a:r>
            <a:r>
              <a:rPr dirty="0" sz="700" spc="-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and</a:t>
            </a:r>
            <a:r>
              <a:rPr dirty="0" sz="700" spc="-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doctor</a:t>
            </a:r>
            <a:endParaRPr sz="7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1302" y="1749246"/>
            <a:ext cx="3889375" cy="27495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4600"/>
              </a:lnSpc>
              <a:spcBef>
                <a:spcPts val="50"/>
              </a:spcBef>
            </a:pPr>
            <a:r>
              <a:rPr dirty="0" sz="800">
                <a:latin typeface="Arial"/>
                <a:cs typeface="Arial"/>
              </a:rPr>
              <a:t>Everything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patient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40">
                <a:latin typeface="Arial"/>
                <a:cs typeface="Arial"/>
              </a:rPr>
              <a:t>needs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runs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on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phone.</a:t>
            </a:r>
            <a:r>
              <a:rPr dirty="0" sz="800" spc="90">
                <a:latin typeface="Arial"/>
                <a:cs typeface="Arial"/>
              </a:rPr>
              <a:t> </a:t>
            </a:r>
            <a:r>
              <a:rPr dirty="0" sz="800" spc="-45">
                <a:latin typeface="Arial"/>
                <a:cs typeface="Arial"/>
              </a:rPr>
              <a:t>Session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records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are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saved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locally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and</a:t>
            </a:r>
            <a:r>
              <a:rPr dirty="0" sz="800" spc="50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uploaded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later</a:t>
            </a:r>
            <a:r>
              <a:rPr dirty="0" sz="800" spc="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when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internet</a:t>
            </a:r>
            <a:r>
              <a:rPr dirty="0" sz="800" spc="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available.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73189" y="2089734"/>
            <a:ext cx="3881754" cy="923290"/>
          </a:xfrm>
          <a:custGeom>
            <a:avLst/>
            <a:gdLst/>
            <a:ahLst/>
            <a:cxnLst/>
            <a:rect l="l" t="t" r="r" b="b"/>
            <a:pathLst>
              <a:path w="3881754" h="923289">
                <a:moveTo>
                  <a:pt x="3881666" y="44424"/>
                </a:moveTo>
                <a:lnTo>
                  <a:pt x="3880358" y="44424"/>
                </a:lnTo>
                <a:lnTo>
                  <a:pt x="3877653" y="31076"/>
                </a:lnTo>
                <a:lnTo>
                  <a:pt x="3866743" y="14922"/>
                </a:lnTo>
                <a:lnTo>
                  <a:pt x="3850589" y="4013"/>
                </a:lnTo>
                <a:lnTo>
                  <a:pt x="3830866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872464"/>
                </a:lnTo>
                <a:lnTo>
                  <a:pt x="4013" y="892187"/>
                </a:lnTo>
                <a:lnTo>
                  <a:pt x="14922" y="908342"/>
                </a:lnTo>
                <a:lnTo>
                  <a:pt x="31076" y="919251"/>
                </a:lnTo>
                <a:lnTo>
                  <a:pt x="50812" y="923264"/>
                </a:lnTo>
                <a:lnTo>
                  <a:pt x="3830866" y="923264"/>
                </a:lnTo>
                <a:lnTo>
                  <a:pt x="3850589" y="919251"/>
                </a:lnTo>
                <a:lnTo>
                  <a:pt x="3866743" y="908342"/>
                </a:lnTo>
                <a:lnTo>
                  <a:pt x="3877653" y="892187"/>
                </a:lnTo>
                <a:lnTo>
                  <a:pt x="3881666" y="872464"/>
                </a:lnTo>
                <a:lnTo>
                  <a:pt x="3881666" y="82384"/>
                </a:lnTo>
                <a:lnTo>
                  <a:pt x="3881666" y="50800"/>
                </a:lnTo>
                <a:lnTo>
                  <a:pt x="3881666" y="44424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01294" y="2189365"/>
            <a:ext cx="1297940" cy="55689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800" spc="-114">
                <a:latin typeface="Arial Black"/>
                <a:cs typeface="Arial Black"/>
              </a:rPr>
              <a:t>Tech</a:t>
            </a:r>
            <a:r>
              <a:rPr dirty="0" sz="800" spc="40">
                <a:latin typeface="Arial Black"/>
                <a:cs typeface="Arial Black"/>
              </a:rPr>
              <a:t> </a:t>
            </a:r>
            <a:r>
              <a:rPr dirty="0" sz="800" spc="-10">
                <a:latin typeface="Arial Black"/>
                <a:cs typeface="Arial Black"/>
              </a:rPr>
              <a:t>Stack</a:t>
            </a:r>
            <a:endParaRPr sz="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75">
                <a:latin typeface="Arial Black"/>
                <a:cs typeface="Arial Black"/>
              </a:rPr>
              <a:t>Frontend:</a:t>
            </a:r>
            <a:r>
              <a:rPr dirty="0" sz="800" spc="114">
                <a:latin typeface="Arial Black"/>
                <a:cs typeface="Arial Black"/>
              </a:rPr>
              <a:t> </a:t>
            </a:r>
            <a:r>
              <a:rPr dirty="0" sz="800">
                <a:latin typeface="Arial"/>
                <a:cs typeface="Arial"/>
              </a:rPr>
              <a:t>Flutter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(Android)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800" spc="-95">
                <a:latin typeface="Arial Black"/>
                <a:cs typeface="Arial Black"/>
              </a:rPr>
              <a:t>Backend:</a:t>
            </a:r>
            <a:r>
              <a:rPr dirty="0" sz="800" spc="40">
                <a:latin typeface="Arial Black"/>
                <a:cs typeface="Arial Black"/>
              </a:rPr>
              <a:t> </a:t>
            </a:r>
            <a:r>
              <a:rPr dirty="0" sz="800" spc="-10">
                <a:latin typeface="Arial"/>
                <a:cs typeface="Arial"/>
              </a:rPr>
              <a:t>Firebase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36837" y="2343771"/>
            <a:ext cx="1847214" cy="5295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-635">
              <a:lnSpc>
                <a:spcPct val="104600"/>
              </a:lnSpc>
              <a:spcBef>
                <a:spcPts val="50"/>
              </a:spcBef>
            </a:pPr>
            <a:r>
              <a:rPr dirty="0" sz="800" spc="-75">
                <a:latin typeface="Arial Black"/>
                <a:cs typeface="Arial Black"/>
              </a:rPr>
              <a:t>Database:</a:t>
            </a:r>
            <a:r>
              <a:rPr dirty="0" sz="800" spc="320">
                <a:latin typeface="Arial Black"/>
                <a:cs typeface="Arial Black"/>
              </a:rPr>
              <a:t> </a:t>
            </a:r>
            <a:r>
              <a:rPr dirty="0" sz="800">
                <a:latin typeface="Arial"/>
                <a:cs typeface="Arial"/>
              </a:rPr>
              <a:t>SQLite</a:t>
            </a:r>
            <a:r>
              <a:rPr dirty="0" sz="800" spc="15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on</a:t>
            </a:r>
            <a:r>
              <a:rPr dirty="0" sz="800" spc="16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device,</a:t>
            </a:r>
            <a:r>
              <a:rPr dirty="0" sz="800" spc="19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Firebase </a:t>
            </a:r>
            <a:r>
              <a:rPr dirty="0" sz="800" spc="-10">
                <a:latin typeface="Arial"/>
                <a:cs typeface="Arial"/>
              </a:rPr>
              <a:t>cloud</a:t>
            </a:r>
            <a:endParaRPr sz="800">
              <a:latin typeface="Arial"/>
              <a:cs typeface="Arial"/>
            </a:endParaRPr>
          </a:p>
          <a:p>
            <a:pPr marL="12700" marR="5080" indent="-635">
              <a:lnSpc>
                <a:spcPct val="104600"/>
              </a:lnSpc>
            </a:pPr>
            <a:r>
              <a:rPr dirty="0" sz="800">
                <a:latin typeface="Arial Black"/>
                <a:cs typeface="Arial Black"/>
              </a:rPr>
              <a:t>AI/ML:</a:t>
            </a:r>
            <a:r>
              <a:rPr dirty="0" sz="800" spc="180">
                <a:latin typeface="Arial Black"/>
                <a:cs typeface="Arial Black"/>
              </a:rPr>
              <a:t> </a:t>
            </a:r>
            <a:r>
              <a:rPr dirty="0" sz="800" spc="-35">
                <a:latin typeface="Arial"/>
                <a:cs typeface="Arial"/>
              </a:rPr>
              <a:t>rule-</a:t>
            </a:r>
            <a:r>
              <a:rPr dirty="0" sz="800" spc="-10">
                <a:latin typeface="Arial"/>
                <a:cs typeface="Arial"/>
              </a:rPr>
              <a:t>based</a:t>
            </a:r>
            <a:r>
              <a:rPr dirty="0" sz="800" spc="2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difficulty</a:t>
            </a:r>
            <a:r>
              <a:rPr dirty="0" sz="800" spc="2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first,</a:t>
            </a:r>
            <a:r>
              <a:rPr dirty="0" sz="800" spc="27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Ten-</a:t>
            </a:r>
            <a:r>
              <a:rPr dirty="0" sz="800" spc="-10">
                <a:latin typeface="Arial"/>
                <a:cs typeface="Arial"/>
              </a:rPr>
              <a:t>sorFlow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Lite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later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0" y="3331336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63"/>
                </a:lnTo>
                <a:lnTo>
                  <a:pt x="3317760" y="124663"/>
                </a:lnTo>
                <a:lnTo>
                  <a:pt x="4607992" y="124663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latin typeface="Arial Black"/>
                <a:cs typeface="Arial Black"/>
              </a:rPr>
              <a:t>Innovation</a:t>
            </a:r>
            <a:r>
              <a:rPr dirty="0" sz="1100" spc="25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&amp;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145">
                <a:latin typeface="Arial Black"/>
                <a:cs typeface="Arial Black"/>
              </a:rPr>
              <a:t>Uniqueness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05354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4904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177210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7101" y="2208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960644"/>
            <a:ext cx="3721735" cy="1491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dirty="0" sz="900">
                <a:latin typeface="Tahoma"/>
                <a:cs typeface="Tahoma"/>
              </a:rPr>
              <a:t>Built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for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dementia</a:t>
            </a:r>
            <a:r>
              <a:rPr dirty="0" sz="900" spc="-10">
                <a:latin typeface="Tahoma"/>
                <a:cs typeface="Tahoma"/>
              </a:rPr>
              <a:t> patients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rather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than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healthy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adults:</a:t>
            </a:r>
            <a:r>
              <a:rPr dirty="0" sz="900" spc="7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personal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photos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and </a:t>
            </a:r>
            <a:r>
              <a:rPr dirty="0" sz="900" spc="-10">
                <a:latin typeface="Tahoma"/>
                <a:cs typeface="Tahoma"/>
              </a:rPr>
              <a:t>music,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no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timers,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no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failure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screens.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latin typeface="Tahoma"/>
                <a:cs typeface="Tahoma"/>
              </a:rPr>
              <a:t>Offline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first,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so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it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suits</a:t>
            </a:r>
            <a:r>
              <a:rPr dirty="0" sz="900" spc="-25">
                <a:latin typeface="Tahoma"/>
                <a:cs typeface="Tahoma"/>
              </a:rPr>
              <a:t> homes </a:t>
            </a:r>
            <a:r>
              <a:rPr dirty="0" sz="900">
                <a:latin typeface="Tahoma"/>
                <a:cs typeface="Tahoma"/>
              </a:rPr>
              <a:t>with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poor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connectivity.</a:t>
            </a:r>
            <a:endParaRPr sz="900">
              <a:latin typeface="Tahoma"/>
              <a:cs typeface="Tahoma"/>
            </a:endParaRPr>
          </a:p>
          <a:p>
            <a:pPr marL="12700" marR="87630">
              <a:lnSpc>
                <a:spcPct val="113100"/>
              </a:lnSpc>
              <a:spcBef>
                <a:spcPts val="1000"/>
              </a:spcBef>
            </a:pP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AI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has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</a:t>
            </a:r>
            <a:r>
              <a:rPr dirty="0" sz="900" spc="-20">
                <a:latin typeface="Tahoma"/>
                <a:cs typeface="Tahoma"/>
              </a:rPr>
              <a:t> clear </a:t>
            </a:r>
            <a:r>
              <a:rPr dirty="0" sz="900">
                <a:latin typeface="Tahoma"/>
                <a:cs typeface="Tahoma"/>
              </a:rPr>
              <a:t>job:</a:t>
            </a:r>
            <a:r>
              <a:rPr dirty="0" sz="900" spc="60">
                <a:latin typeface="Tahoma"/>
                <a:cs typeface="Tahoma"/>
              </a:rPr>
              <a:t> </a:t>
            </a:r>
            <a:r>
              <a:rPr dirty="0" sz="900" spc="-40">
                <a:latin typeface="Tahoma"/>
                <a:cs typeface="Tahoma"/>
              </a:rPr>
              <a:t>keep</a:t>
            </a:r>
            <a:r>
              <a:rPr dirty="0" sz="900" spc="-20">
                <a:latin typeface="Tahoma"/>
                <a:cs typeface="Tahoma"/>
              </a:rPr>
              <a:t> each </a:t>
            </a:r>
            <a:r>
              <a:rPr dirty="0" sz="900" spc="-40">
                <a:latin typeface="Tahoma"/>
                <a:cs typeface="Tahoma"/>
              </a:rPr>
              <a:t>game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at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right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level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and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move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an easier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one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when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patient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looks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frustrated.</a:t>
            </a:r>
            <a:endParaRPr sz="900">
              <a:latin typeface="Tahoma"/>
              <a:cs typeface="Tahoma"/>
            </a:endParaRPr>
          </a:p>
          <a:p>
            <a:pPr marL="12700" marR="316230">
              <a:lnSpc>
                <a:spcPct val="113100"/>
              </a:lnSpc>
              <a:spcBef>
                <a:spcPts val="994"/>
              </a:spcBef>
            </a:pPr>
            <a:r>
              <a:rPr dirty="0" sz="900" spc="-114">
                <a:latin typeface="Arial Black"/>
                <a:cs typeface="Arial Black"/>
              </a:rPr>
              <a:t>Key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85">
                <a:latin typeface="Arial Black"/>
                <a:cs typeface="Arial Black"/>
              </a:rPr>
              <a:t>differentiator:</a:t>
            </a:r>
            <a:r>
              <a:rPr dirty="0" sz="900" spc="35">
                <a:latin typeface="Arial Black"/>
                <a:cs typeface="Arial Black"/>
              </a:rPr>
              <a:t> </a:t>
            </a:r>
            <a:r>
              <a:rPr dirty="0" sz="900" spc="-20">
                <a:latin typeface="Tahoma"/>
                <a:cs typeface="Tahoma"/>
              </a:rPr>
              <a:t>one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app</a:t>
            </a:r>
            <a:r>
              <a:rPr dirty="0" sz="900">
                <a:latin typeface="Tahoma"/>
                <a:cs typeface="Tahoma"/>
              </a:rPr>
              <a:t> that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combines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exercise,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reminders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and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50">
                <a:latin typeface="Tahoma"/>
                <a:cs typeface="Tahoma"/>
              </a:rPr>
              <a:t>a </a:t>
            </a:r>
            <a:r>
              <a:rPr dirty="0" sz="900" spc="-35">
                <a:latin typeface="Tahoma"/>
                <a:cs typeface="Tahoma"/>
              </a:rPr>
              <a:t>progress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report</a:t>
            </a:r>
            <a:r>
              <a:rPr dirty="0" sz="900" spc="-5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for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family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and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doctor.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latin typeface="Arial Black"/>
                <a:cs typeface="Arial Black"/>
              </a:rPr>
              <a:t>Feasibility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&amp;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14">
                <a:latin typeface="Arial Black"/>
                <a:cs typeface="Arial Black"/>
              </a:rPr>
              <a:t>Scalability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04208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63412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07098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63500">
              <a:lnSpc>
                <a:spcPct val="113100"/>
              </a:lnSpc>
              <a:spcBef>
                <a:spcPts val="100"/>
              </a:spcBef>
            </a:pPr>
            <a:r>
              <a:rPr dirty="0" spc="-95">
                <a:latin typeface="Arial Black"/>
                <a:cs typeface="Arial Black"/>
              </a:rPr>
              <a:t>Feasibility: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35"/>
              <a:t>needs</a:t>
            </a:r>
            <a:r>
              <a:rPr dirty="0" spc="-30"/>
              <a:t> </a:t>
            </a:r>
            <a:r>
              <a:rPr dirty="0"/>
              <a:t>only</a:t>
            </a:r>
            <a:r>
              <a:rPr dirty="0" spc="-30"/>
              <a:t> </a:t>
            </a:r>
            <a:r>
              <a:rPr dirty="0"/>
              <a:t>an</a:t>
            </a:r>
            <a:r>
              <a:rPr dirty="0" spc="-30"/>
              <a:t> </a:t>
            </a:r>
            <a:r>
              <a:rPr dirty="0" spc="-25"/>
              <a:t>ordinary</a:t>
            </a:r>
            <a:r>
              <a:rPr dirty="0" spc="-30"/>
              <a:t> </a:t>
            </a:r>
            <a:r>
              <a:rPr dirty="0"/>
              <a:t>Android</a:t>
            </a:r>
            <a:r>
              <a:rPr dirty="0" spc="-30"/>
              <a:t> </a:t>
            </a:r>
            <a:r>
              <a:rPr dirty="0" spc="-25"/>
              <a:t>phone</a:t>
            </a:r>
            <a:r>
              <a:rPr dirty="0" spc="-30"/>
              <a:t> </a:t>
            </a:r>
            <a:r>
              <a:rPr dirty="0"/>
              <a:t>or</a:t>
            </a:r>
            <a:r>
              <a:rPr dirty="0" spc="-30"/>
              <a:t> </a:t>
            </a:r>
            <a:r>
              <a:rPr dirty="0"/>
              <a:t>tablet.</a:t>
            </a:r>
            <a:r>
              <a:rPr dirty="0" spc="55"/>
              <a:t> </a:t>
            </a:r>
            <a:r>
              <a:rPr dirty="0"/>
              <a:t>We</a:t>
            </a:r>
            <a:r>
              <a:rPr dirty="0" spc="-30"/>
              <a:t> </a:t>
            </a:r>
            <a:r>
              <a:rPr dirty="0" spc="-45"/>
              <a:t>need</a:t>
            </a:r>
            <a:r>
              <a:rPr dirty="0" spc="-25"/>
              <a:t> </a:t>
            </a:r>
            <a:r>
              <a:rPr dirty="0" spc="-50"/>
              <a:t>a </a:t>
            </a:r>
            <a:r>
              <a:rPr dirty="0" spc="-30"/>
              <a:t>developer</a:t>
            </a:r>
            <a:r>
              <a:rPr dirty="0" spc="-25"/>
              <a:t> </a:t>
            </a:r>
            <a:r>
              <a:rPr dirty="0" spc="-10"/>
              <a:t>team,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UI</a:t>
            </a:r>
            <a:r>
              <a:rPr dirty="0" spc="-20"/>
              <a:t> </a:t>
            </a:r>
            <a:r>
              <a:rPr dirty="0" spc="-35"/>
              <a:t>designer,</a:t>
            </a:r>
            <a:r>
              <a:rPr dirty="0" spc="-25"/>
              <a:t> </a:t>
            </a:r>
            <a:r>
              <a:rPr dirty="0" spc="-10"/>
              <a:t>and</a:t>
            </a:r>
            <a:r>
              <a:rPr dirty="0" spc="-20"/>
              <a:t> advice </a:t>
            </a:r>
            <a:r>
              <a:rPr dirty="0"/>
              <a:t>from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 spc="-20"/>
              <a:t>neurologist </a:t>
            </a:r>
            <a:r>
              <a:rPr dirty="0"/>
              <a:t>or</a:t>
            </a:r>
            <a:r>
              <a:rPr dirty="0" spc="-20"/>
              <a:t> </a:t>
            </a:r>
            <a:r>
              <a:rPr dirty="0" spc="-10"/>
              <a:t>therapist</a:t>
            </a:r>
            <a:r>
              <a:rPr dirty="0" spc="-20"/>
              <a:t> </a:t>
            </a:r>
            <a:r>
              <a:rPr dirty="0" spc="-25"/>
              <a:t>on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 spc="-10"/>
              <a:t>games.</a:t>
            </a:r>
          </a:p>
          <a:p>
            <a:pPr marL="12700" marR="5080">
              <a:lnSpc>
                <a:spcPct val="113100"/>
              </a:lnSpc>
              <a:spcBef>
                <a:spcPts val="994"/>
              </a:spcBef>
            </a:pPr>
            <a:r>
              <a:rPr dirty="0" spc="-90">
                <a:latin typeface="Arial Black"/>
                <a:cs typeface="Arial Black"/>
              </a:rPr>
              <a:t>Scalability:</a:t>
            </a:r>
            <a:r>
              <a:rPr dirty="0" spc="45">
                <a:latin typeface="Arial Black"/>
                <a:cs typeface="Arial Black"/>
              </a:rPr>
              <a:t> </a:t>
            </a:r>
            <a:r>
              <a:rPr dirty="0" spc="-10"/>
              <a:t>add</a:t>
            </a:r>
            <a:r>
              <a:rPr dirty="0" spc="-25"/>
              <a:t> </a:t>
            </a:r>
            <a:r>
              <a:rPr dirty="0" spc="-30"/>
              <a:t>new</a:t>
            </a:r>
            <a:r>
              <a:rPr dirty="0" spc="-25"/>
              <a:t> </a:t>
            </a:r>
            <a:r>
              <a:rPr dirty="0" spc="-35"/>
              <a:t>languages</a:t>
            </a:r>
            <a:r>
              <a:rPr dirty="0" spc="-30"/>
              <a:t> </a:t>
            </a:r>
            <a:r>
              <a:rPr dirty="0" spc="-20"/>
              <a:t>through</a:t>
            </a:r>
            <a:r>
              <a:rPr dirty="0" spc="-25"/>
              <a:t> </a:t>
            </a:r>
            <a:r>
              <a:rPr dirty="0" spc="-20"/>
              <a:t>volunteer </a:t>
            </a:r>
            <a:r>
              <a:rPr dirty="0" spc="-10"/>
              <a:t>voice</a:t>
            </a:r>
            <a:r>
              <a:rPr dirty="0" spc="-30"/>
              <a:t> recordings,</a:t>
            </a:r>
            <a:r>
              <a:rPr dirty="0" spc="-20"/>
              <a:t> </a:t>
            </a:r>
            <a:r>
              <a:rPr dirty="0" spc="-10"/>
              <a:t>and</a:t>
            </a:r>
            <a:r>
              <a:rPr dirty="0" spc="-30"/>
              <a:t> </a:t>
            </a:r>
            <a:r>
              <a:rPr dirty="0" spc="-10"/>
              <a:t>reach families</a:t>
            </a:r>
            <a:r>
              <a:rPr dirty="0"/>
              <a:t> </a:t>
            </a:r>
            <a:r>
              <a:rPr dirty="0" spc="-10"/>
              <a:t>through</a:t>
            </a:r>
            <a:r>
              <a:rPr dirty="0"/>
              <a:t> ASHA </a:t>
            </a:r>
            <a:r>
              <a:rPr dirty="0" spc="-35"/>
              <a:t>workers</a:t>
            </a:r>
            <a:r>
              <a:rPr dirty="0"/>
              <a:t> </a:t>
            </a:r>
            <a:r>
              <a:rPr dirty="0" spc="-10"/>
              <a:t>and</a:t>
            </a:r>
            <a:r>
              <a:rPr dirty="0" spc="5"/>
              <a:t> </a:t>
            </a:r>
            <a:r>
              <a:rPr dirty="0"/>
              <a:t>NGOs </a:t>
            </a:r>
            <a:r>
              <a:rPr dirty="0" spc="-10"/>
              <a:t>such</a:t>
            </a:r>
            <a:r>
              <a:rPr dirty="0"/>
              <a:t> as </a:t>
            </a:r>
            <a:r>
              <a:rPr dirty="0" spc="-10"/>
              <a:t>ARDSI.</a:t>
            </a:r>
          </a:p>
          <a:p>
            <a:pPr marL="12700" marR="5715">
              <a:lnSpc>
                <a:spcPct val="113100"/>
              </a:lnSpc>
              <a:spcBef>
                <a:spcPts val="1000"/>
              </a:spcBef>
            </a:pPr>
            <a:r>
              <a:rPr dirty="0" spc="-110">
                <a:latin typeface="Arial Black"/>
                <a:cs typeface="Arial Black"/>
              </a:rPr>
              <a:t>Risks:</a:t>
            </a:r>
            <a:r>
              <a:rPr dirty="0" spc="45">
                <a:latin typeface="Arial Black"/>
                <a:cs typeface="Arial Black"/>
              </a:rPr>
              <a:t> </a:t>
            </a:r>
            <a:r>
              <a:rPr dirty="0" spc="-30"/>
              <a:t>elders</a:t>
            </a:r>
            <a:r>
              <a:rPr dirty="0" spc="-25"/>
              <a:t> </a:t>
            </a:r>
            <a:r>
              <a:rPr dirty="0" spc="-20"/>
              <a:t>may</a:t>
            </a:r>
            <a:r>
              <a:rPr dirty="0" spc="-30"/>
              <a:t> </a:t>
            </a:r>
            <a:r>
              <a:rPr dirty="0"/>
              <a:t>find</a:t>
            </a:r>
            <a:r>
              <a:rPr dirty="0" spc="-30"/>
              <a:t> </a:t>
            </a:r>
            <a:r>
              <a:rPr dirty="0"/>
              <a:t>it</a:t>
            </a:r>
            <a:r>
              <a:rPr dirty="0" spc="-25"/>
              <a:t> </a:t>
            </a:r>
            <a:r>
              <a:rPr dirty="0" spc="-20"/>
              <a:t>hard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start</a:t>
            </a:r>
            <a:r>
              <a:rPr dirty="0" spc="-30"/>
              <a:t> </a:t>
            </a:r>
            <a:r>
              <a:rPr dirty="0"/>
              <a:t>with,</a:t>
            </a:r>
            <a:r>
              <a:rPr dirty="0" spc="-25"/>
              <a:t> </a:t>
            </a:r>
            <a:r>
              <a:rPr dirty="0" spc="-10"/>
              <a:t>and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10"/>
              <a:t>benefit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not</a:t>
            </a:r>
            <a:r>
              <a:rPr dirty="0" spc="-25"/>
              <a:t> </a:t>
            </a:r>
            <a:r>
              <a:rPr dirty="0" spc="-10"/>
              <a:t>yet</a:t>
            </a:r>
            <a:r>
              <a:rPr dirty="0" spc="-25"/>
              <a:t> </a:t>
            </a:r>
            <a:r>
              <a:rPr dirty="0" spc="-10"/>
              <a:t>proven. </a:t>
            </a:r>
            <a:r>
              <a:rPr dirty="0"/>
              <a:t>We</a:t>
            </a:r>
            <a:r>
              <a:rPr dirty="0" spc="-20"/>
              <a:t> </a:t>
            </a:r>
            <a:r>
              <a:rPr dirty="0"/>
              <a:t>will</a:t>
            </a:r>
            <a:r>
              <a:rPr dirty="0" spc="-20"/>
              <a:t> </a:t>
            </a:r>
            <a:r>
              <a:rPr dirty="0"/>
              <a:t>do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small</a:t>
            </a:r>
            <a:r>
              <a:rPr dirty="0" spc="-15"/>
              <a:t> </a:t>
            </a:r>
            <a:r>
              <a:rPr dirty="0" spc="-30"/>
              <a:t>supervised</a:t>
            </a:r>
            <a:r>
              <a:rPr dirty="0" spc="-20"/>
              <a:t> </a:t>
            </a:r>
            <a:r>
              <a:rPr dirty="0"/>
              <a:t>pilot,</a:t>
            </a:r>
            <a:r>
              <a:rPr dirty="0" spc="-15"/>
              <a:t> </a:t>
            </a:r>
            <a:r>
              <a:rPr dirty="0" spc="-25"/>
              <a:t>have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30"/>
              <a:t>caregiver</a:t>
            </a:r>
            <a:r>
              <a:rPr dirty="0" spc="-15"/>
              <a:t> </a:t>
            </a:r>
            <a:r>
              <a:rPr dirty="0" spc="-10"/>
              <a:t>help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 spc="-20"/>
              <a:t>setup, </a:t>
            </a:r>
            <a:r>
              <a:rPr dirty="0" spc="-25"/>
              <a:t>and </a:t>
            </a:r>
            <a:r>
              <a:rPr dirty="0" spc="-10"/>
              <a:t>avoid</a:t>
            </a:r>
            <a:r>
              <a:rPr dirty="0" spc="-15"/>
              <a:t> </a:t>
            </a:r>
            <a:r>
              <a:rPr dirty="0" spc="-10"/>
              <a:t>claiming</a:t>
            </a:r>
            <a:r>
              <a:rPr dirty="0" spc="-15"/>
              <a:t> </a:t>
            </a:r>
            <a:r>
              <a:rPr dirty="0"/>
              <a:t>it</a:t>
            </a:r>
            <a:r>
              <a:rPr dirty="0" spc="-15"/>
              <a:t> </a:t>
            </a:r>
            <a:r>
              <a:rPr dirty="0"/>
              <a:t>treats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10"/>
              <a:t>disease.</a:t>
            </a: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5">
                <a:latin typeface="Arial Black"/>
                <a:cs typeface="Arial Black"/>
              </a:rPr>
              <a:t>Cost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for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110">
                <a:latin typeface="Arial Black"/>
                <a:cs typeface="Arial Black"/>
              </a:rPr>
              <a:t>Product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70">
                <a:latin typeface="Arial Black"/>
                <a:cs typeface="Arial Black"/>
              </a:rPr>
              <a:t>(Optional)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16006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7101" y="14417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72345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0051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7101" y="22868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11302" y="854603"/>
            <a:ext cx="3335654" cy="1746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latin typeface="Tahoma"/>
                <a:cs typeface="Tahoma"/>
              </a:rPr>
              <a:t>Rough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estimate </a:t>
            </a:r>
            <a:r>
              <a:rPr dirty="0" sz="900">
                <a:latin typeface="Tahoma"/>
                <a:cs typeface="Tahoma"/>
              </a:rPr>
              <a:t>for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small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pilot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(about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10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patient–caregiver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pairs):</a:t>
            </a:r>
            <a:endParaRPr sz="900">
              <a:latin typeface="Tahoma"/>
              <a:cs typeface="Tahoma"/>
            </a:endParaRPr>
          </a:p>
          <a:p>
            <a:pPr marL="175895">
              <a:lnSpc>
                <a:spcPct val="100000"/>
              </a:lnSpc>
              <a:spcBef>
                <a:spcPts val="740"/>
              </a:spcBef>
            </a:pPr>
            <a:r>
              <a:rPr dirty="0" sz="900" spc="-25">
                <a:latin typeface="Tahoma"/>
                <a:cs typeface="Tahoma"/>
              </a:rPr>
              <a:t>Development:</a:t>
            </a:r>
            <a:r>
              <a:rPr dirty="0" sz="900" spc="5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student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team,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no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salary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cost</a:t>
            </a:r>
            <a:endParaRPr sz="900">
              <a:latin typeface="Tahoma"/>
              <a:cs typeface="Tahoma"/>
            </a:endParaRPr>
          </a:p>
          <a:p>
            <a:pPr marL="175895" marR="74930">
              <a:lnSpc>
                <a:spcPct val="205399"/>
              </a:lnSpc>
            </a:pPr>
            <a:r>
              <a:rPr dirty="0" sz="900" spc="-20">
                <a:latin typeface="Tahoma"/>
                <a:cs typeface="Tahoma"/>
              </a:rPr>
              <a:t>Low-</a:t>
            </a:r>
            <a:r>
              <a:rPr dirty="0" sz="900">
                <a:latin typeface="Tahoma"/>
                <a:cs typeface="Tahoma"/>
              </a:rPr>
              <a:t>cost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tablets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for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testing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(5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i="1">
                <a:latin typeface="Verdana"/>
                <a:cs typeface="Verdana"/>
              </a:rPr>
              <a:t>×</a:t>
            </a:r>
            <a:r>
              <a:rPr dirty="0" sz="900" spc="-65" i="1">
                <a:latin typeface="Verdana"/>
                <a:cs typeface="Verdana"/>
              </a:rPr>
              <a:t> </a:t>
            </a:r>
            <a:r>
              <a:rPr dirty="0" sz="900">
                <a:latin typeface="Tahoma"/>
                <a:cs typeface="Tahoma"/>
              </a:rPr>
              <a:t>Rs.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8,000):</a:t>
            </a:r>
            <a:r>
              <a:rPr dirty="0" sz="900" spc="5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about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Rs.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40,000 </a:t>
            </a:r>
            <a:r>
              <a:rPr dirty="0" sz="900">
                <a:latin typeface="Tahoma"/>
                <a:cs typeface="Tahoma"/>
              </a:rPr>
              <a:t>Cloud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hosting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for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6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months:</a:t>
            </a:r>
            <a:r>
              <a:rPr dirty="0" sz="900" spc="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about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Rs.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9,000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Tahoma"/>
              <a:cs typeface="Tahoma"/>
            </a:endParaRPr>
          </a:p>
          <a:p>
            <a:pPr marL="175895">
              <a:lnSpc>
                <a:spcPct val="100000"/>
              </a:lnSpc>
            </a:pPr>
            <a:r>
              <a:rPr dirty="0" sz="900">
                <a:latin typeface="Tahoma"/>
                <a:cs typeface="Tahoma"/>
              </a:rPr>
              <a:t>Voice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recording,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translation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and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testing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visits:</a:t>
            </a:r>
            <a:r>
              <a:rPr dirty="0" sz="900" spc="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about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Rs.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20,000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Tahoma"/>
              <a:cs typeface="Tahoma"/>
            </a:endParaRPr>
          </a:p>
          <a:p>
            <a:pPr marL="175895">
              <a:lnSpc>
                <a:spcPct val="100000"/>
              </a:lnSpc>
              <a:spcBef>
                <a:spcPts val="5"/>
              </a:spcBef>
            </a:pPr>
            <a:r>
              <a:rPr dirty="0" sz="900" spc="-105">
                <a:latin typeface="Arial Black"/>
                <a:cs typeface="Arial Black"/>
              </a:rPr>
              <a:t>Estimated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55">
                <a:latin typeface="Arial Black"/>
                <a:cs typeface="Arial Black"/>
              </a:rPr>
              <a:t>total:</a:t>
            </a:r>
            <a:r>
              <a:rPr dirty="0" sz="900" spc="100">
                <a:latin typeface="Arial Black"/>
                <a:cs typeface="Arial Black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about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 spc="-100">
                <a:latin typeface="Arial Black"/>
                <a:cs typeface="Arial Black"/>
              </a:rPr>
              <a:t>Rs.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10">
                <a:latin typeface="Arial Black"/>
                <a:cs typeface="Arial Black"/>
              </a:rPr>
              <a:t>70,000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700" spc="-10">
                <a:latin typeface="Arial"/>
                <a:cs typeface="Arial"/>
              </a:rPr>
              <a:t>Estimates</a:t>
            </a:r>
            <a:r>
              <a:rPr dirty="0" sz="700">
                <a:latin typeface="Arial"/>
                <a:cs typeface="Arial"/>
              </a:rPr>
              <a:t> only.</a:t>
            </a:r>
            <a:r>
              <a:rPr dirty="0" sz="700" spc="8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Patients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can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use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phone</a:t>
            </a:r>
            <a:r>
              <a:rPr dirty="0" sz="700">
                <a:latin typeface="Arial"/>
                <a:cs typeface="Arial"/>
              </a:rPr>
              <a:t> they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already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20">
                <a:latin typeface="Arial"/>
                <a:cs typeface="Arial"/>
              </a:rPr>
              <a:t>own.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70">
                <a:latin typeface="Arial Black"/>
                <a:cs typeface="Arial Black"/>
              </a:rPr>
              <a:t>Use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190">
                <a:latin typeface="Arial Black"/>
                <a:cs typeface="Arial Black"/>
              </a:rPr>
              <a:t>Cases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pc="-20"/>
              <a:t>(compulsorily</a:t>
            </a:r>
            <a:r>
              <a:rPr dirty="0" spc="-45"/>
              <a:t> </a:t>
            </a:r>
            <a:r>
              <a:rPr dirty="0"/>
              <a:t>3</a:t>
            </a:r>
            <a:r>
              <a:rPr dirty="0" spc="5"/>
              <a:t> </a:t>
            </a:r>
            <a:r>
              <a:rPr dirty="0" spc="-35"/>
              <a:t>use</a:t>
            </a:r>
            <a:r>
              <a:rPr dirty="0" spc="5"/>
              <a:t> </a:t>
            </a:r>
            <a:r>
              <a:rPr dirty="0" spc="-25"/>
              <a:t>cases</a:t>
            </a:r>
            <a:r>
              <a:rPr dirty="0" spc="5"/>
              <a:t> </a:t>
            </a:r>
            <a:r>
              <a:rPr dirty="0"/>
              <a:t>must</a:t>
            </a:r>
            <a:r>
              <a:rPr dirty="0" spc="5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there)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05093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64297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07984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130">
                <a:latin typeface="Arial Black"/>
                <a:cs typeface="Arial Black"/>
              </a:rPr>
              <a:t>Use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160">
                <a:latin typeface="Arial Black"/>
                <a:cs typeface="Arial Black"/>
              </a:rPr>
              <a:t>case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>
                <a:latin typeface="Arial Black"/>
                <a:cs typeface="Arial Black"/>
              </a:rPr>
              <a:t>1:</a:t>
            </a:r>
            <a:r>
              <a:rPr dirty="0" spc="-35">
                <a:latin typeface="Arial Black"/>
                <a:cs typeface="Arial Black"/>
              </a:rPr>
              <a:t> </a:t>
            </a:r>
            <a:r>
              <a:rPr dirty="0" spc="75"/>
              <a:t>A</a:t>
            </a:r>
            <a:r>
              <a:rPr dirty="0" spc="-15"/>
              <a:t> </a:t>
            </a:r>
            <a:r>
              <a:rPr dirty="0" spc="-20"/>
              <a:t>grandmother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 spc="-10"/>
              <a:t>village</a:t>
            </a:r>
            <a:r>
              <a:rPr dirty="0" spc="-15"/>
              <a:t> </a:t>
            </a:r>
            <a:r>
              <a:rPr dirty="0" spc="-30"/>
              <a:t>near</a:t>
            </a:r>
            <a:r>
              <a:rPr dirty="0" spc="-15"/>
              <a:t> </a:t>
            </a:r>
            <a:r>
              <a:rPr dirty="0" spc="-10"/>
              <a:t>Guwahati</a:t>
            </a:r>
            <a:r>
              <a:rPr dirty="0" spc="-15"/>
              <a:t> </a:t>
            </a:r>
            <a:r>
              <a:rPr dirty="0" spc="-20"/>
              <a:t>plays</a:t>
            </a:r>
            <a:r>
              <a:rPr dirty="0" spc="-15"/>
              <a:t> </a:t>
            </a:r>
            <a:r>
              <a:rPr dirty="0" spc="-50"/>
              <a:t>a</a:t>
            </a:r>
          </a:p>
          <a:p>
            <a:pPr marL="12700" marR="61594">
              <a:lnSpc>
                <a:spcPct val="113100"/>
              </a:lnSpc>
            </a:pPr>
            <a:r>
              <a:rPr dirty="0" spc="-25"/>
              <a:t>photo-</a:t>
            </a:r>
            <a:r>
              <a:rPr dirty="0" spc="-10"/>
              <a:t>matching</a:t>
            </a:r>
            <a:r>
              <a:rPr dirty="0" spc="-25"/>
              <a:t> </a:t>
            </a:r>
            <a:r>
              <a:rPr dirty="0" spc="-40"/>
              <a:t>game</a:t>
            </a:r>
            <a:r>
              <a:rPr dirty="0" spc="-20"/>
              <a:t> each morning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10"/>
              <a:t>app</a:t>
            </a:r>
            <a:r>
              <a:rPr dirty="0" spc="-20"/>
              <a:t> </a:t>
            </a:r>
            <a:r>
              <a:rPr dirty="0"/>
              <a:t>talking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 spc="-30"/>
              <a:t>Assamese.</a:t>
            </a:r>
            <a:r>
              <a:rPr dirty="0" spc="65"/>
              <a:t> </a:t>
            </a:r>
            <a:r>
              <a:rPr dirty="0" spc="-25"/>
              <a:t>Her </a:t>
            </a:r>
            <a:r>
              <a:rPr dirty="0" spc="-20"/>
              <a:t>son</a:t>
            </a:r>
            <a:r>
              <a:rPr dirty="0" spc="-25"/>
              <a:t> </a:t>
            </a:r>
            <a:r>
              <a:rPr dirty="0" spc="-50"/>
              <a:t>sees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 spc="-30"/>
              <a:t>weekly</a:t>
            </a:r>
            <a:r>
              <a:rPr dirty="0" spc="-20"/>
              <a:t> </a:t>
            </a:r>
            <a:r>
              <a:rPr dirty="0" spc="-30"/>
              <a:t>summary</a:t>
            </a:r>
            <a:r>
              <a:rPr dirty="0" spc="-20"/>
              <a:t> </a:t>
            </a:r>
            <a:r>
              <a:rPr dirty="0"/>
              <a:t>on</a:t>
            </a:r>
            <a:r>
              <a:rPr dirty="0" spc="-20"/>
              <a:t> </a:t>
            </a:r>
            <a:r>
              <a:rPr dirty="0"/>
              <a:t>his</a:t>
            </a:r>
            <a:r>
              <a:rPr dirty="0" spc="-25"/>
              <a:t> </a:t>
            </a:r>
            <a:r>
              <a:rPr dirty="0" spc="-10"/>
              <a:t>phone.</a:t>
            </a:r>
          </a:p>
          <a:p>
            <a:pPr marL="12700" marR="198120">
              <a:lnSpc>
                <a:spcPct val="113100"/>
              </a:lnSpc>
              <a:spcBef>
                <a:spcPts val="1000"/>
              </a:spcBef>
            </a:pPr>
            <a:r>
              <a:rPr dirty="0" spc="-130">
                <a:latin typeface="Arial Black"/>
                <a:cs typeface="Arial Black"/>
              </a:rPr>
              <a:t>Use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160">
                <a:latin typeface="Arial Black"/>
                <a:cs typeface="Arial Black"/>
              </a:rPr>
              <a:t>case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>
                <a:latin typeface="Arial Black"/>
                <a:cs typeface="Arial Black"/>
              </a:rPr>
              <a:t>2:</a:t>
            </a:r>
            <a:r>
              <a:rPr dirty="0" spc="10">
                <a:latin typeface="Arial Black"/>
                <a:cs typeface="Arial Black"/>
              </a:rPr>
              <a:t> </a:t>
            </a:r>
            <a:r>
              <a:rPr dirty="0"/>
              <a:t>An ASHA </a:t>
            </a:r>
            <a:r>
              <a:rPr dirty="0" spc="-30"/>
              <a:t>worker</a:t>
            </a:r>
            <a:r>
              <a:rPr dirty="0" spc="-5"/>
              <a:t> </a:t>
            </a:r>
            <a:r>
              <a:rPr dirty="0" spc="-20"/>
              <a:t>sets</a:t>
            </a:r>
            <a:r>
              <a:rPr dirty="0"/>
              <a:t> up the</a:t>
            </a:r>
            <a:r>
              <a:rPr dirty="0" spc="-5"/>
              <a:t> </a:t>
            </a:r>
            <a:r>
              <a:rPr dirty="0" spc="-10"/>
              <a:t>app</a:t>
            </a:r>
            <a:r>
              <a:rPr dirty="0"/>
              <a:t> </a:t>
            </a:r>
            <a:r>
              <a:rPr dirty="0" spc="-20"/>
              <a:t>during</a:t>
            </a:r>
            <a:r>
              <a:rPr dirty="0"/>
              <a:t> a</a:t>
            </a:r>
            <a:r>
              <a:rPr dirty="0" spc="-5"/>
              <a:t> </a:t>
            </a:r>
            <a:r>
              <a:rPr dirty="0" spc="-25"/>
              <a:t>home</a:t>
            </a:r>
            <a:r>
              <a:rPr dirty="0"/>
              <a:t> visit, </a:t>
            </a:r>
            <a:r>
              <a:rPr dirty="0" spc="-20"/>
              <a:t>then checks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caregiver’s</a:t>
            </a:r>
            <a:r>
              <a:rPr dirty="0" spc="-20"/>
              <a:t> </a:t>
            </a:r>
            <a:r>
              <a:rPr dirty="0" spc="-10"/>
              <a:t>report</a:t>
            </a:r>
            <a:r>
              <a:rPr dirty="0" spc="-25"/>
              <a:t> </a:t>
            </a:r>
            <a:r>
              <a:rPr dirty="0"/>
              <a:t>at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next</a:t>
            </a:r>
            <a:r>
              <a:rPr dirty="0" spc="-25"/>
              <a:t> </a:t>
            </a:r>
            <a:r>
              <a:rPr dirty="0" spc="-10"/>
              <a:t>visit.</a:t>
            </a:r>
          </a:p>
          <a:p>
            <a:pPr marL="12700" marR="5080">
              <a:lnSpc>
                <a:spcPct val="113100"/>
              </a:lnSpc>
              <a:spcBef>
                <a:spcPts val="994"/>
              </a:spcBef>
            </a:pPr>
            <a:r>
              <a:rPr dirty="0" spc="-130">
                <a:latin typeface="Arial Black"/>
                <a:cs typeface="Arial Black"/>
              </a:rPr>
              <a:t>Use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160">
                <a:latin typeface="Arial Black"/>
                <a:cs typeface="Arial Black"/>
              </a:rPr>
              <a:t>case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>
                <a:latin typeface="Arial Black"/>
                <a:cs typeface="Arial Black"/>
              </a:rPr>
              <a:t>3:</a:t>
            </a:r>
            <a:r>
              <a:rPr dirty="0" spc="-35">
                <a:latin typeface="Arial Black"/>
                <a:cs typeface="Arial Black"/>
              </a:rPr>
              <a:t> </a:t>
            </a:r>
            <a:r>
              <a:rPr dirty="0" spc="75"/>
              <a:t>A</a:t>
            </a:r>
            <a:r>
              <a:rPr dirty="0" spc="-15"/>
              <a:t> </a:t>
            </a:r>
            <a:r>
              <a:rPr dirty="0" spc="50"/>
              <a:t>PHC</a:t>
            </a:r>
            <a:r>
              <a:rPr dirty="0" spc="-15"/>
              <a:t> </a:t>
            </a:r>
            <a:r>
              <a:rPr dirty="0"/>
              <a:t>doctor</a:t>
            </a:r>
            <a:r>
              <a:rPr dirty="0" spc="-15"/>
              <a:t> </a:t>
            </a:r>
            <a:r>
              <a:rPr dirty="0" spc="-25"/>
              <a:t>reads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 spc="-50"/>
              <a:t>one-</a:t>
            </a:r>
            <a:r>
              <a:rPr dirty="0" spc="-25"/>
              <a:t>page</a:t>
            </a:r>
            <a:r>
              <a:rPr dirty="0" spc="-15"/>
              <a:t> </a:t>
            </a:r>
            <a:r>
              <a:rPr dirty="0" spc="-30"/>
              <a:t>summary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family</a:t>
            </a:r>
            <a:r>
              <a:rPr dirty="0" spc="-15"/>
              <a:t> </a:t>
            </a:r>
            <a:r>
              <a:rPr dirty="0" spc="-10"/>
              <a:t>shares </a:t>
            </a:r>
            <a:r>
              <a:rPr dirty="0" spc="-30"/>
              <a:t>before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 spc="-25"/>
              <a:t>review,</a:t>
            </a:r>
            <a:r>
              <a:rPr dirty="0" spc="-30"/>
              <a:t> </a:t>
            </a:r>
            <a:r>
              <a:rPr dirty="0" spc="-10"/>
              <a:t>and</a:t>
            </a:r>
            <a:r>
              <a:rPr dirty="0" spc="-25"/>
              <a:t> </a:t>
            </a:r>
            <a:r>
              <a:rPr dirty="0" spc="-50"/>
              <a:t>sees</a:t>
            </a:r>
            <a:r>
              <a:rPr dirty="0" spc="-25"/>
              <a:t> </a:t>
            </a:r>
            <a:r>
              <a:rPr dirty="0"/>
              <a:t>that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patient</a:t>
            </a:r>
            <a:r>
              <a:rPr dirty="0" spc="-30"/>
              <a:t> </a:t>
            </a:r>
            <a:r>
              <a:rPr dirty="0" spc="-10"/>
              <a:t>has</a:t>
            </a:r>
            <a:r>
              <a:rPr dirty="0" spc="-25"/>
              <a:t> </a:t>
            </a:r>
            <a:r>
              <a:rPr dirty="0" spc="-35"/>
              <a:t>been</a:t>
            </a:r>
            <a:r>
              <a:rPr dirty="0" spc="-30"/>
              <a:t> </a:t>
            </a:r>
            <a:r>
              <a:rPr dirty="0" spc="-20"/>
              <a:t>playing</a:t>
            </a:r>
            <a:r>
              <a:rPr dirty="0" spc="-30"/>
              <a:t> </a:t>
            </a:r>
            <a:r>
              <a:rPr dirty="0" spc="-20"/>
              <a:t>less</a:t>
            </a:r>
            <a:r>
              <a:rPr dirty="0" spc="-25"/>
              <a:t> </a:t>
            </a:r>
            <a:r>
              <a:rPr dirty="0" spc="-20"/>
              <a:t>over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20"/>
              <a:t>last three</a:t>
            </a:r>
            <a:r>
              <a:rPr dirty="0" spc="-45"/>
              <a:t> </a:t>
            </a:r>
            <a:r>
              <a:rPr dirty="0" spc="-10"/>
              <a:t>weeks.</a:t>
            </a: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370330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0">
                <a:latin typeface="Arial Black"/>
                <a:cs typeface="Arial Black"/>
              </a:rPr>
              <a:t>Impacts</a:t>
            </a:r>
            <a:r>
              <a:rPr dirty="0" sz="1100" spc="60">
                <a:latin typeface="Arial Black"/>
                <a:cs typeface="Arial Black"/>
              </a:rPr>
              <a:t> </a:t>
            </a:r>
            <a:r>
              <a:rPr dirty="0" sz="1100" spc="-150">
                <a:latin typeface="Arial Black"/>
                <a:cs typeface="Arial Black"/>
              </a:rPr>
              <a:t>and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Benefits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05354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3352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177210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7101" y="2208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0">
                <a:latin typeface="Arial Black"/>
                <a:cs typeface="Arial Black"/>
              </a:rPr>
              <a:t>Patients: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/>
              <a:t>daily</a:t>
            </a:r>
            <a:r>
              <a:rPr dirty="0" spc="-35"/>
              <a:t> </a:t>
            </a:r>
            <a:r>
              <a:rPr dirty="0" spc="-10"/>
              <a:t>mental</a:t>
            </a:r>
            <a:r>
              <a:rPr dirty="0" spc="-30"/>
              <a:t> </a:t>
            </a:r>
            <a:r>
              <a:rPr dirty="0" spc="-10"/>
              <a:t>activity,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 spc="-25"/>
              <a:t>steady</a:t>
            </a:r>
            <a:r>
              <a:rPr dirty="0" spc="-35"/>
              <a:t> </a:t>
            </a:r>
            <a:r>
              <a:rPr dirty="0" spc="-10"/>
              <a:t>routine,</a:t>
            </a:r>
            <a:r>
              <a:rPr dirty="0" spc="-30"/>
              <a:t> </a:t>
            </a:r>
            <a:r>
              <a:rPr dirty="0" spc="-10"/>
              <a:t>and</a:t>
            </a:r>
            <a:r>
              <a:rPr dirty="0" spc="-35"/>
              <a:t> </a:t>
            </a:r>
            <a:r>
              <a:rPr dirty="0" spc="-20"/>
              <a:t>less</a:t>
            </a:r>
            <a:r>
              <a:rPr dirty="0" spc="-30"/>
              <a:t> </a:t>
            </a:r>
            <a:r>
              <a:rPr dirty="0" spc="-10"/>
              <a:t>anxiety.</a:t>
            </a:r>
          </a:p>
          <a:p>
            <a:pPr marL="12700" marR="5080">
              <a:lnSpc>
                <a:spcPct val="113100"/>
              </a:lnSpc>
              <a:spcBef>
                <a:spcPts val="994"/>
              </a:spcBef>
            </a:pPr>
            <a:r>
              <a:rPr dirty="0" spc="-110">
                <a:latin typeface="Arial Black"/>
                <a:cs typeface="Arial Black"/>
              </a:rPr>
              <a:t>Caregivers:</a:t>
            </a:r>
            <a:r>
              <a:rPr dirty="0" spc="50">
                <a:latin typeface="Arial Black"/>
                <a:cs typeface="Arial Black"/>
              </a:rPr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 spc="-20"/>
              <a:t>short</a:t>
            </a:r>
            <a:r>
              <a:rPr dirty="0" spc="-25"/>
              <a:t> break</a:t>
            </a:r>
            <a:r>
              <a:rPr dirty="0" spc="-30"/>
              <a:t> </a:t>
            </a:r>
            <a:r>
              <a:rPr dirty="0" spc="-25"/>
              <a:t>each </a:t>
            </a:r>
            <a:r>
              <a:rPr dirty="0" spc="-20"/>
              <a:t>day</a:t>
            </a:r>
            <a:r>
              <a:rPr dirty="0" spc="-30"/>
              <a:t> </a:t>
            </a:r>
            <a:r>
              <a:rPr dirty="0" spc="-10"/>
              <a:t>and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30"/>
              <a:t> clearer</a:t>
            </a:r>
            <a:r>
              <a:rPr dirty="0" spc="-25"/>
              <a:t> </a:t>
            </a:r>
            <a:r>
              <a:rPr dirty="0" spc="-10"/>
              <a:t>picture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 spc="-25"/>
              <a:t>how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patient</a:t>
            </a:r>
            <a:r>
              <a:rPr dirty="0" spc="-25"/>
              <a:t> is </a:t>
            </a:r>
            <a:r>
              <a:rPr dirty="0" spc="-10"/>
              <a:t>doing.</a:t>
            </a:r>
          </a:p>
          <a:p>
            <a:pPr marL="12700" marR="140335">
              <a:lnSpc>
                <a:spcPct val="113100"/>
              </a:lnSpc>
              <a:spcBef>
                <a:spcPts val="1000"/>
              </a:spcBef>
            </a:pPr>
            <a:r>
              <a:rPr dirty="0" spc="-90">
                <a:latin typeface="Arial Black"/>
                <a:cs typeface="Arial Black"/>
              </a:rPr>
              <a:t>Health</a:t>
            </a:r>
            <a:r>
              <a:rPr dirty="0" spc="15">
                <a:latin typeface="Arial Black"/>
                <a:cs typeface="Arial Black"/>
              </a:rPr>
              <a:t> </a:t>
            </a:r>
            <a:r>
              <a:rPr dirty="0" spc="-114">
                <a:latin typeface="Arial Black"/>
                <a:cs typeface="Arial Black"/>
              </a:rPr>
              <a:t>system:</a:t>
            </a:r>
            <a:r>
              <a:rPr dirty="0" spc="40">
                <a:latin typeface="Arial Black"/>
                <a:cs typeface="Arial Black"/>
              </a:rPr>
              <a:t> </a:t>
            </a:r>
            <a:r>
              <a:rPr dirty="0" spc="-30"/>
              <a:t>follow-</a:t>
            </a:r>
            <a:r>
              <a:rPr dirty="0"/>
              <a:t>up</a:t>
            </a:r>
            <a:r>
              <a:rPr dirty="0" spc="-15"/>
              <a:t> </a:t>
            </a:r>
            <a:r>
              <a:rPr dirty="0"/>
              <a:t>at</a:t>
            </a:r>
            <a:r>
              <a:rPr dirty="0" spc="-10"/>
              <a:t> </a:t>
            </a:r>
            <a:r>
              <a:rPr dirty="0" spc="-25"/>
              <a:t>home,</a:t>
            </a:r>
            <a:r>
              <a:rPr dirty="0" spc="-10"/>
              <a:t> </a:t>
            </a:r>
            <a:r>
              <a:rPr dirty="0" spc="-35"/>
              <a:t>fewer</a:t>
            </a:r>
            <a:r>
              <a:rPr dirty="0" spc="-10"/>
              <a:t> long</a:t>
            </a:r>
            <a:r>
              <a:rPr dirty="0" spc="-5"/>
              <a:t> </a:t>
            </a:r>
            <a:r>
              <a:rPr dirty="0"/>
              <a:t>trips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city, and</a:t>
            </a:r>
            <a:r>
              <a:rPr dirty="0" spc="-5"/>
              <a:t> </a:t>
            </a:r>
            <a:r>
              <a:rPr dirty="0" spc="-10"/>
              <a:t>earlier </a:t>
            </a:r>
            <a:r>
              <a:rPr dirty="0" spc="-20"/>
              <a:t>signs</a:t>
            </a:r>
            <a:r>
              <a:rPr dirty="0"/>
              <a:t> that </a:t>
            </a:r>
            <a:r>
              <a:rPr dirty="0" spc="-40"/>
              <a:t>someone</a:t>
            </a:r>
            <a:r>
              <a:rPr dirty="0"/>
              <a:t> </a:t>
            </a:r>
            <a:r>
              <a:rPr dirty="0" spc="-35"/>
              <a:t>needs</a:t>
            </a:r>
            <a:r>
              <a:rPr dirty="0" spc="5"/>
              <a:t> </a:t>
            </a:r>
            <a:r>
              <a:rPr dirty="0"/>
              <a:t>a </a:t>
            </a:r>
            <a:r>
              <a:rPr dirty="0" spc="-35"/>
              <a:t>check-</a:t>
            </a:r>
            <a:r>
              <a:rPr dirty="0" spc="-25"/>
              <a:t>up.</a:t>
            </a:r>
          </a:p>
          <a:p>
            <a:pPr marL="12700" marR="245745">
              <a:lnSpc>
                <a:spcPct val="113100"/>
              </a:lnSpc>
              <a:spcBef>
                <a:spcPts val="994"/>
              </a:spcBef>
            </a:pPr>
            <a:r>
              <a:rPr dirty="0" spc="-55">
                <a:latin typeface="Arial Black"/>
                <a:cs typeface="Arial Black"/>
              </a:rPr>
              <a:t>What</a:t>
            </a:r>
            <a:r>
              <a:rPr dirty="0" spc="-20">
                <a:latin typeface="Arial Black"/>
                <a:cs typeface="Arial Black"/>
              </a:rPr>
              <a:t> </a:t>
            </a:r>
            <a:r>
              <a:rPr dirty="0" spc="-190">
                <a:latin typeface="Arial Black"/>
                <a:cs typeface="Arial Black"/>
              </a:rPr>
              <a:t>we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105">
                <a:latin typeface="Arial Black"/>
                <a:cs typeface="Arial Black"/>
              </a:rPr>
              <a:t>will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110">
                <a:latin typeface="Arial Black"/>
                <a:cs typeface="Arial Black"/>
              </a:rPr>
              <a:t>measure:</a:t>
            </a:r>
            <a:r>
              <a:rPr dirty="0" spc="35">
                <a:latin typeface="Arial Black"/>
                <a:cs typeface="Arial Black"/>
              </a:rPr>
              <a:t> </a:t>
            </a:r>
            <a:r>
              <a:rPr dirty="0" spc="-30"/>
              <a:t>sessions</a:t>
            </a:r>
            <a:r>
              <a:rPr dirty="0" spc="-45"/>
              <a:t> </a:t>
            </a:r>
            <a:r>
              <a:rPr dirty="0"/>
              <a:t>per</a:t>
            </a:r>
            <a:r>
              <a:rPr dirty="0" spc="-70"/>
              <a:t> </a:t>
            </a:r>
            <a:r>
              <a:rPr dirty="0" spc="-35"/>
              <a:t>week,</a:t>
            </a:r>
            <a:r>
              <a:rPr dirty="0" spc="-40"/>
              <a:t> </a:t>
            </a:r>
            <a:r>
              <a:rPr dirty="0" spc="-20"/>
              <a:t>how</a:t>
            </a:r>
            <a:r>
              <a:rPr dirty="0" spc="-25"/>
              <a:t> </a:t>
            </a:r>
            <a:r>
              <a:rPr dirty="0" spc="-10"/>
              <a:t>many</a:t>
            </a:r>
            <a:r>
              <a:rPr dirty="0" spc="-20"/>
              <a:t> </a:t>
            </a:r>
            <a:r>
              <a:rPr dirty="0" spc="-10"/>
              <a:t>patients</a:t>
            </a:r>
            <a:r>
              <a:rPr dirty="0" spc="-25"/>
              <a:t> </a:t>
            </a:r>
            <a:r>
              <a:rPr dirty="0"/>
              <a:t>can</a:t>
            </a:r>
            <a:r>
              <a:rPr dirty="0" spc="-20"/>
              <a:t> </a:t>
            </a:r>
            <a:r>
              <a:rPr dirty="0" spc="-10"/>
              <a:t>start </a:t>
            </a:r>
            <a:r>
              <a:rPr dirty="0" spc="-25"/>
              <a:t>unaided,</a:t>
            </a:r>
            <a:r>
              <a:rPr dirty="0" spc="-30"/>
              <a:t> </a:t>
            </a:r>
            <a:r>
              <a:rPr dirty="0" spc="-10"/>
              <a:t>and</a:t>
            </a:r>
            <a:r>
              <a:rPr dirty="0" spc="-30"/>
              <a:t> caregiver</a:t>
            </a:r>
            <a:r>
              <a:rPr dirty="0" spc="-25"/>
              <a:t> </a:t>
            </a:r>
            <a:r>
              <a:rPr dirty="0" spc="-20"/>
              <a:t>stress</a:t>
            </a:r>
            <a:r>
              <a:rPr dirty="0" spc="-30"/>
              <a:t> </a:t>
            </a:r>
            <a:r>
              <a:rPr dirty="0" spc="-35"/>
              <a:t>scores</a:t>
            </a:r>
            <a:r>
              <a:rPr dirty="0" spc="-30"/>
              <a:t> before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after.</a:t>
            </a:r>
          </a:p>
        </p:txBody>
      </p:sp>
      <p:sp>
        <p:nvSpPr>
          <p:cNvPr id="11" name="object 11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25501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45">
                <a:solidFill>
                  <a:srgbClr val="154B33"/>
                </a:solidFill>
                <a:latin typeface="Arial Black"/>
                <a:cs typeface="Arial Black"/>
              </a:rPr>
              <a:t>Sustainable</a:t>
            </a:r>
            <a:r>
              <a:rPr dirty="0" sz="1100" spc="10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130">
                <a:solidFill>
                  <a:srgbClr val="154B33"/>
                </a:solidFill>
                <a:latin typeface="Arial Black"/>
                <a:cs typeface="Arial Black"/>
              </a:rPr>
              <a:t>Development</a:t>
            </a:r>
            <a:r>
              <a:rPr dirty="0" sz="1100" spc="10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155">
                <a:solidFill>
                  <a:srgbClr val="154B33"/>
                </a:solidFill>
                <a:latin typeface="Arial Black"/>
                <a:cs typeface="Arial Black"/>
              </a:rPr>
              <a:t>Goals</a:t>
            </a:r>
            <a:r>
              <a:rPr dirty="0" sz="1100" spc="10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40">
                <a:solidFill>
                  <a:srgbClr val="154B33"/>
                </a:solidFill>
                <a:latin typeface="Arial Black"/>
                <a:cs typeface="Arial Black"/>
              </a:rPr>
              <a:t>(SDGs)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0786" y="753046"/>
          <a:ext cx="3982720" cy="1998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725"/>
                <a:gridCol w="728344"/>
                <a:gridCol w="1016634"/>
                <a:gridCol w="1440814"/>
              </a:tblGrid>
              <a:tr h="3022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2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SDG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Target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1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Goal</a:t>
                      </a:r>
                      <a:r>
                        <a:rPr dirty="0" sz="900" spc="4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Name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Connection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45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dirty="0" sz="900" spc="-3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3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123189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25">
                          <a:latin typeface="Tahoma"/>
                          <a:cs typeface="Tahoma"/>
                        </a:rPr>
                        <a:t>3.4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12318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 marR="111760">
                        <a:lnSpc>
                          <a:spcPct val="113100"/>
                        </a:lnSpc>
                        <a:spcBef>
                          <a:spcPts val="5"/>
                        </a:spcBef>
                      </a:pPr>
                      <a:r>
                        <a:rPr dirty="0" sz="900">
                          <a:latin typeface="Tahoma"/>
                          <a:cs typeface="Tahoma"/>
                        </a:rPr>
                        <a:t>Good</a:t>
                      </a:r>
                      <a:r>
                        <a:rPr dirty="0" sz="9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Health</a:t>
                      </a:r>
                      <a:r>
                        <a:rPr dirty="0" sz="900" spc="-30">
                          <a:latin typeface="Tahoma"/>
                          <a:cs typeface="Tahoma"/>
                        </a:rPr>
                        <a:t> and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Well-being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273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57785" marR="233679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Supports</a:t>
                      </a:r>
                      <a:r>
                        <a:rPr dirty="0" sz="9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mental</a:t>
                      </a:r>
                      <a:r>
                        <a:rPr dirty="0" sz="9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latin typeface="Tahoma"/>
                          <a:cs typeface="Tahoma"/>
                        </a:rPr>
                        <a:t>health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5">
                          <a:latin typeface="Tahoma"/>
                          <a:cs typeface="Tahoma"/>
                        </a:rPr>
                        <a:t>well-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being</a:t>
                      </a:r>
                      <a:r>
                        <a:rPr dirty="0" sz="9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9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older people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45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dirty="0" sz="900" spc="-3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3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25">
                          <a:latin typeface="Tahoma"/>
                          <a:cs typeface="Tahoma"/>
                        </a:rPr>
                        <a:t>3.8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1176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>
                          <a:latin typeface="Tahoma"/>
                          <a:cs typeface="Tahoma"/>
                        </a:rPr>
                        <a:t>Good</a:t>
                      </a:r>
                      <a:r>
                        <a:rPr dirty="0" sz="9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Health</a:t>
                      </a:r>
                      <a:r>
                        <a:rPr dirty="0" sz="900" spc="-30">
                          <a:latin typeface="Tahoma"/>
                          <a:cs typeface="Tahoma"/>
                        </a:rPr>
                        <a:t> and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Well-being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55244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>
                          <a:latin typeface="Tahoma"/>
                          <a:cs typeface="Tahoma"/>
                        </a:rPr>
                        <a:t>Brings</a:t>
                      </a:r>
                      <a:r>
                        <a:rPr dirty="0" sz="9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basic</a:t>
                      </a:r>
                      <a:r>
                        <a:rPr dirty="0" sz="900" spc="-20">
                          <a:latin typeface="Tahoma"/>
                          <a:cs typeface="Tahoma"/>
                        </a:rPr>
                        <a:t> care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9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0">
                          <a:latin typeface="Tahoma"/>
                          <a:cs typeface="Tahoma"/>
                        </a:rPr>
                        <a:t>people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far</a:t>
                      </a:r>
                      <a:r>
                        <a:rPr dirty="0" sz="900" spc="-6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from</a:t>
                      </a:r>
                      <a:r>
                        <a:rPr dirty="0" sz="90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clinics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45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dirty="0" sz="900" spc="-3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25">
                          <a:latin typeface="Arial Black"/>
                          <a:cs typeface="Arial Black"/>
                        </a:rPr>
                        <a:t>10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123189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20">
                          <a:latin typeface="Tahoma"/>
                          <a:cs typeface="Tahoma"/>
                        </a:rPr>
                        <a:t>10.2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12318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 marR="405130">
                        <a:lnSpc>
                          <a:spcPct val="1131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Reduced </a:t>
                      </a:r>
                      <a:r>
                        <a:rPr dirty="0" sz="900" spc="-35">
                          <a:latin typeface="Tahoma"/>
                          <a:cs typeface="Tahoma"/>
                        </a:rPr>
                        <a:t>Inequalities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273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63195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 spc="-30">
                          <a:latin typeface="Tahoma"/>
                          <a:cs typeface="Tahoma"/>
                        </a:rPr>
                        <a:t>Includes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5">
                          <a:latin typeface="Tahoma"/>
                          <a:cs typeface="Tahoma"/>
                        </a:rPr>
                        <a:t>elders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5">
                          <a:latin typeface="Tahoma"/>
                          <a:cs typeface="Tahoma"/>
                        </a:rPr>
                        <a:t>remote areas,</a:t>
                      </a:r>
                      <a:r>
                        <a:rPr dirty="0" sz="9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9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their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5">
                          <a:latin typeface="Tahoma"/>
                          <a:cs typeface="Tahoma"/>
                        </a:rPr>
                        <a:t>own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language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2058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solidFill>
                  <a:srgbClr val="154B33"/>
                </a:solidFill>
                <a:latin typeface="Arial Black"/>
                <a:cs typeface="Arial Black"/>
              </a:rPr>
              <a:t>Individual</a:t>
            </a:r>
            <a:r>
              <a:rPr dirty="0" sz="1100" spc="5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114">
                <a:solidFill>
                  <a:srgbClr val="154B33"/>
                </a:solidFill>
                <a:latin typeface="Arial Black"/>
                <a:cs typeface="Arial Black"/>
              </a:rPr>
              <a:t>Member</a:t>
            </a:r>
            <a:r>
              <a:rPr dirty="0" sz="1100" spc="6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95">
                <a:solidFill>
                  <a:srgbClr val="154B33"/>
                </a:solidFill>
                <a:latin typeface="Arial Black"/>
                <a:cs typeface="Arial Black"/>
              </a:rPr>
              <a:t>Contribution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67182" y="939393"/>
          <a:ext cx="3750310" cy="153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720"/>
                <a:gridCol w="2484755"/>
              </a:tblGrid>
              <a:tr h="302260"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Member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8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Contribution</a:t>
                      </a:r>
                      <a:r>
                        <a:rPr dirty="0" sz="900" spc="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or</a:t>
                      </a:r>
                      <a:r>
                        <a:rPr dirty="0" sz="900" spc="2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4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responsibility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125">
                          <a:latin typeface="Arial Black"/>
                          <a:cs typeface="Arial Black"/>
                        </a:rPr>
                        <a:t>Aswath</a:t>
                      </a:r>
                      <a:r>
                        <a:rPr dirty="0" sz="900" spc="7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P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9695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90">
                          <a:latin typeface="Tahoma"/>
                          <a:cs typeface="Tahoma"/>
                        </a:rPr>
                        <a:t>PPT</a:t>
                      </a:r>
                      <a:r>
                        <a:rPr dirty="0" sz="9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55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IDEATING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125">
                          <a:latin typeface="Arial Black"/>
                          <a:cs typeface="Arial Black"/>
                        </a:rPr>
                        <a:t>Aswath</a:t>
                      </a:r>
                      <a:r>
                        <a:rPr dirty="0" sz="900" spc="7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G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9695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>
                          <a:latin typeface="Tahoma"/>
                          <a:cs typeface="Tahoma"/>
                        </a:rPr>
                        <a:t>RESEARCH</a:t>
                      </a:r>
                      <a:r>
                        <a:rPr dirty="0" sz="900" spc="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55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IDEATING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100">
                          <a:latin typeface="Arial Black"/>
                          <a:cs typeface="Arial Black"/>
                        </a:rPr>
                        <a:t>Aditya</a:t>
                      </a:r>
                      <a:r>
                        <a:rPr dirty="0" sz="900" spc="4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0">
                          <a:latin typeface="Arial Black"/>
                          <a:cs typeface="Arial Black"/>
                        </a:rPr>
                        <a:t>Sajiv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9695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>
                          <a:latin typeface="Tahoma"/>
                          <a:cs typeface="Tahoma"/>
                        </a:rPr>
                        <a:t>RESEARCH</a:t>
                      </a:r>
                      <a:r>
                        <a:rPr dirty="0" sz="900" spc="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55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IDEATING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20">
                          <a:latin typeface="Arial Black"/>
                          <a:cs typeface="Arial Black"/>
                        </a:rPr>
                        <a:t>B.V.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30">
                          <a:latin typeface="Arial Black"/>
                          <a:cs typeface="Arial Black"/>
                        </a:rPr>
                        <a:t>Sukishakthi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9695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CHARTS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99695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563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solidFill>
                  <a:srgbClr val="154B33"/>
                </a:solidFill>
                <a:latin typeface="Arial Black"/>
                <a:cs typeface="Arial Black"/>
              </a:rPr>
              <a:t>Yukti</a:t>
            </a:r>
            <a:r>
              <a:rPr dirty="0" sz="1100" spc="2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35">
                <a:solidFill>
                  <a:srgbClr val="154B33"/>
                </a:solidFill>
                <a:latin typeface="Arial Black"/>
                <a:cs typeface="Arial Black"/>
              </a:rPr>
              <a:t>ID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935977" y="1277596"/>
            <a:ext cx="2736215" cy="828040"/>
          </a:xfrm>
          <a:custGeom>
            <a:avLst/>
            <a:gdLst/>
            <a:ahLst/>
            <a:cxnLst/>
            <a:rect l="l" t="t" r="r" b="b"/>
            <a:pathLst>
              <a:path w="2736215" h="828039">
                <a:moveTo>
                  <a:pt x="2660120" y="0"/>
                </a:moveTo>
                <a:lnTo>
                  <a:pt x="75916" y="0"/>
                </a:lnTo>
                <a:lnTo>
                  <a:pt x="46365" y="5965"/>
                </a:lnTo>
                <a:lnTo>
                  <a:pt x="22235" y="22235"/>
                </a:lnTo>
                <a:lnTo>
                  <a:pt x="5965" y="46366"/>
                </a:lnTo>
                <a:lnTo>
                  <a:pt x="0" y="75916"/>
                </a:lnTo>
                <a:lnTo>
                  <a:pt x="0" y="752095"/>
                </a:lnTo>
                <a:lnTo>
                  <a:pt x="5965" y="781645"/>
                </a:lnTo>
                <a:lnTo>
                  <a:pt x="22235" y="805776"/>
                </a:lnTo>
                <a:lnTo>
                  <a:pt x="46365" y="822045"/>
                </a:lnTo>
                <a:lnTo>
                  <a:pt x="75916" y="828011"/>
                </a:lnTo>
                <a:lnTo>
                  <a:pt x="2660120" y="828011"/>
                </a:lnTo>
                <a:lnTo>
                  <a:pt x="2689670" y="822045"/>
                </a:lnTo>
                <a:lnTo>
                  <a:pt x="2713801" y="805776"/>
                </a:lnTo>
                <a:lnTo>
                  <a:pt x="2730071" y="781645"/>
                </a:lnTo>
                <a:lnTo>
                  <a:pt x="2736036" y="752095"/>
                </a:lnTo>
                <a:lnTo>
                  <a:pt x="2736036" y="75916"/>
                </a:lnTo>
                <a:lnTo>
                  <a:pt x="2730071" y="46366"/>
                </a:lnTo>
                <a:lnTo>
                  <a:pt x="2713801" y="22235"/>
                </a:lnTo>
                <a:lnTo>
                  <a:pt x="2689670" y="5965"/>
                </a:lnTo>
                <a:lnTo>
                  <a:pt x="2660120" y="0"/>
                </a:lnTo>
                <a:close/>
              </a:path>
            </a:pathLst>
          </a:custGeom>
          <a:ln w="15183">
            <a:solidFill>
              <a:srgbClr val="2268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20813" y="1180064"/>
            <a:ext cx="766445" cy="180340"/>
          </a:xfrm>
          <a:custGeom>
            <a:avLst/>
            <a:gdLst/>
            <a:ahLst/>
            <a:cxnLst/>
            <a:rect l="l" t="t" r="r" b="b"/>
            <a:pathLst>
              <a:path w="766444" h="180340">
                <a:moveTo>
                  <a:pt x="715753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29269"/>
                </a:lnTo>
                <a:lnTo>
                  <a:pt x="3977" y="148970"/>
                </a:lnTo>
                <a:lnTo>
                  <a:pt x="14823" y="165057"/>
                </a:lnTo>
                <a:lnTo>
                  <a:pt x="30910" y="175903"/>
                </a:lnTo>
                <a:lnTo>
                  <a:pt x="50610" y="179880"/>
                </a:lnTo>
                <a:lnTo>
                  <a:pt x="715753" y="179880"/>
                </a:lnTo>
                <a:lnTo>
                  <a:pt x="735454" y="175903"/>
                </a:lnTo>
                <a:lnTo>
                  <a:pt x="751541" y="165057"/>
                </a:lnTo>
                <a:lnTo>
                  <a:pt x="762387" y="148970"/>
                </a:lnTo>
                <a:lnTo>
                  <a:pt x="766364" y="129269"/>
                </a:lnTo>
                <a:lnTo>
                  <a:pt x="766364" y="50610"/>
                </a:lnTo>
                <a:lnTo>
                  <a:pt x="762387" y="30910"/>
                </a:lnTo>
                <a:lnTo>
                  <a:pt x="751541" y="14823"/>
                </a:lnTo>
                <a:lnTo>
                  <a:pt x="735454" y="3977"/>
                </a:lnTo>
                <a:lnTo>
                  <a:pt x="715753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70125" y="1182974"/>
            <a:ext cx="46799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0">
                <a:solidFill>
                  <a:srgbClr val="FFFFFF"/>
                </a:solidFill>
                <a:latin typeface="Arial Black"/>
                <a:cs typeface="Arial Black"/>
              </a:rPr>
              <a:t>Yukti</a:t>
            </a:r>
            <a:r>
              <a:rPr dirty="0" sz="900" spc="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Arial Black"/>
                <a:cs typeface="Arial Black"/>
              </a:rPr>
              <a:t>ID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6883" y="1536186"/>
            <a:ext cx="1654810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160">
                <a:solidFill>
                  <a:srgbClr val="154B33"/>
                </a:solidFill>
                <a:latin typeface="Arial Black"/>
                <a:cs typeface="Arial Black"/>
              </a:rPr>
              <a:t>IR2026-</a:t>
            </a:r>
            <a:r>
              <a:rPr dirty="0" sz="1700" spc="-165">
                <a:solidFill>
                  <a:srgbClr val="154B33"/>
                </a:solidFill>
                <a:latin typeface="Arial Black"/>
                <a:cs typeface="Arial Black"/>
              </a:rPr>
              <a:t>1051038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I174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Hacktivators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4B3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Team ID: GEN26-A0H-I174[0.2cm] Team Name: Hacktivators[0.2cm] Domain: Healthcare, Biotechnology &amp; Human Well-being</dc:creator>
  <dc:title>Genesis Ideathon: Final Presentation</dc:title>
  <dcterms:created xsi:type="dcterms:W3CDTF">2026-10-11T09:14:08Z</dcterms:created>
  <dcterms:modified xsi:type="dcterms:W3CDTF">2026-10-11T09:14:08Z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2026-10-11T00:00:00Z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2026-10-11T00:00:00Z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