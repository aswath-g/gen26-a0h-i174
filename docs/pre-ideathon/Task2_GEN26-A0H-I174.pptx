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Lst>
  <p:notesMasterIdLst>
    <p:notesMasterId r:id="rId11"/>
  </p:notesMasterIdLst>
  <p:sldIdLst>
    <p:sldId id="256" r:id="rId3"/>
    <p:sldId id="257" r:id="rId4"/>
    <p:sldId id="258" r:id="rId5"/>
    <p:sldId id="259" r:id="rId6"/>
    <p:sldId id="260" r:id="rId7"/>
    <p:sldId id="261" r:id="rId8"/>
    <p:sldId id="262"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67" y="6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2273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749828"/>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350028"/>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5" name="Cover Fields"/>
          <p:cNvSpPr txBox="1"/>
          <p:nvPr/>
        </p:nvSpPr>
        <p:spPr>
          <a:xfrm>
            <a:off x="548640" y="2947801"/>
            <a:ext cx="6035040" cy="2352247"/>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HACKTIVATORS</a:t>
            </a:r>
            <a:endParaRPr lang="en-US" sz="1800" dirty="0"/>
          </a:p>
          <a:p>
            <a:pPr marL="279400" indent="-279400">
              <a:spcAft>
                <a:spcPts val="1400"/>
              </a:spcAft>
              <a:buClr>
                <a:schemeClr val="accent3"/>
              </a:buClr>
              <a:buSzPct val="100000"/>
              <a:buChar char="•"/>
            </a:pPr>
            <a:r>
              <a:rPr lang="en-US" sz="1800" dirty="0">
                <a:solidFill>
                  <a:schemeClr val="bg1"/>
                </a:solidFill>
              </a:rPr>
              <a:t>Team Members –  ASWATH P   CB.SC.U4CSE26710</a:t>
            </a:r>
          </a:p>
          <a:p>
            <a:pPr algn="ctr">
              <a:spcAft>
                <a:spcPts val="1400"/>
              </a:spcAft>
              <a:buClr>
                <a:schemeClr val="accent3"/>
              </a:buClr>
              <a:buSzPct val="100000"/>
            </a:pPr>
            <a:r>
              <a:rPr lang="en-US" dirty="0">
                <a:solidFill>
                  <a:schemeClr val="bg1"/>
                </a:solidFill>
              </a:rPr>
              <a:t>              ASWATH G  CB.SC.U4CSE26206</a:t>
            </a:r>
          </a:p>
          <a:p>
            <a:pPr algn="ctr">
              <a:spcAft>
                <a:spcPts val="1400"/>
              </a:spcAft>
              <a:buClr>
                <a:schemeClr val="accent3"/>
              </a:buClr>
              <a:buSzPct val="100000"/>
            </a:pPr>
            <a:r>
              <a:rPr lang="en-US" dirty="0">
                <a:solidFill>
                  <a:schemeClr val="bg1"/>
                </a:solidFill>
              </a:rPr>
              <a:t>                  ADITYA SAJIV  CB.SC.U4CSE26701</a:t>
            </a:r>
          </a:p>
          <a:p>
            <a:pPr algn="ctr">
              <a:spcAft>
                <a:spcPts val="1400"/>
              </a:spcAft>
              <a:buClr>
                <a:schemeClr val="accent3"/>
              </a:buClr>
              <a:buSzPct val="100000"/>
            </a:pPr>
            <a:r>
              <a:rPr lang="en-US" sz="1800" dirty="0">
                <a:solidFill>
                  <a:schemeClr val="bg1"/>
                </a:solidFill>
              </a:rPr>
              <a:t>                       </a:t>
            </a:r>
            <a:r>
              <a:rPr lang="en-US" dirty="0">
                <a:solidFill>
                  <a:schemeClr val="bg1"/>
                </a:solidFill>
              </a:rPr>
              <a:t>B.V.SUKISHAKTHI </a:t>
            </a:r>
            <a:r>
              <a:rPr lang="en-US" sz="1800" dirty="0">
                <a:solidFill>
                  <a:schemeClr val="bg1"/>
                </a:solidFill>
              </a:rPr>
              <a:t>CB</a:t>
            </a:r>
            <a:r>
              <a:rPr lang="en-US" dirty="0">
                <a:solidFill>
                  <a:schemeClr val="bg1"/>
                </a:solidFill>
              </a:rPr>
              <a:t>.SC.U4CSE26712   </a:t>
            </a:r>
            <a:endParaRPr lang="en-US" sz="1800" dirty="0"/>
          </a:p>
          <a:p>
            <a:pPr marL="279400" indent="-279400">
              <a:spcAft>
                <a:spcPts val="1400"/>
              </a:spcAft>
              <a:buClr>
                <a:schemeClr val="accent3"/>
              </a:buClr>
              <a:buSzPct val="100000"/>
              <a:buChar char="•"/>
            </a:pPr>
            <a:r>
              <a:rPr lang="en-US" sz="1800" dirty="0">
                <a:solidFill>
                  <a:schemeClr val="bg1"/>
                </a:solidFill>
              </a:rPr>
              <a:t>Selected Domain –   Healthcare , Biotechnology &amp; Human Well-being</a:t>
            </a:r>
            <a:endParaRPr lang="en-US" sz="1800" dirty="0"/>
          </a:p>
          <a:p>
            <a:pPr marL="279400" indent="-279400">
              <a:spcAft>
                <a:spcPts val="1400"/>
              </a:spcAft>
              <a:buClr>
                <a:schemeClr val="accent3"/>
              </a:buClr>
              <a:buSzPct val="100000"/>
              <a:buChar char="•"/>
            </a:pPr>
            <a:r>
              <a:rPr lang="en-US" sz="1800" dirty="0">
                <a:solidFill>
                  <a:schemeClr val="bg1"/>
                </a:solidFill>
              </a:rPr>
              <a:t>Problem Statement – AI based cognitive gaming and memory assistance for Alzheimer patients </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136392"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HACKTIVATORS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dirty="0"/>
              <a:t>We need to address the problem of the absence of cognitive therapy and memory care for the world's population with Alzheimer's disease. Given that the disease is growing more prevalent daily, and the patients have little access to specialized sources of help, extreme geographic distribution, and the unavailability of affordable, personalized care, we propose to create an AI-based platform. It would operate offline and offer patients cognitive exercises in the form of simple games with reminders and progress tracking functions. The platform will be beneficial because it will address the critical need for mental stimulation for these people and take a significant load off their caregivers.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HACKTIVATORS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Elderly people with Alzheimer, and the people who care for them</a:t>
            </a:r>
            <a:endParaRPr lang="en-US" sz="1800" dirty="0"/>
          </a:p>
        </p:txBody>
      </p:sp>
      <p:sp>
        <p:nvSpPr>
          <p:cNvPr id="20" name="Primary users heading"/>
          <p:cNvSpPr txBox="1"/>
          <p:nvPr/>
        </p:nvSpPr>
        <p:spPr>
          <a:xfrm>
            <a:off x="868680" y="2103120"/>
            <a:ext cx="2834640" cy="320040"/>
          </a:xfrm>
          <a:prstGeom prst="rect">
            <a:avLst/>
          </a:prstGeom>
          <a:noFill/>
          <a:ln/>
        </p:spPr>
        <p:txBody>
          <a:bodyPr wrap="square" lIns="0" tIns="0" rIns="0" bIns="0" rtlCol="0" anchor="t"/>
          <a:lstStyle/>
          <a:p>
            <a:pPr marL="0" indent="0">
              <a:buNone/>
            </a:pPr>
            <a:r>
              <a:rPr lang="en-US" sz="1600" b="1" dirty="0">
                <a:solidFill>
                  <a:schemeClr val="accent1"/>
                </a:solidFill>
              </a:rPr>
              <a:t>Primary users</a:t>
            </a:r>
          </a:p>
        </p:txBody>
      </p:sp>
      <p:cxnSp>
        <p:nvCxnSpPr>
          <p:cNvPr id="21" name="Primary users rule"/>
          <p:cNvCxnSpPr/>
          <p:nvPr/>
        </p:nvCxnSpPr>
        <p:spPr>
          <a:xfrm>
            <a:off x="868680" y="2468880"/>
            <a:ext cx="2834640" cy="0"/>
          </a:xfrm>
          <a:prstGeom prst="line">
            <a:avLst/>
          </a:prstGeom>
          <a:ln w="12700">
            <a:solidFill>
              <a:schemeClr val="accent6"/>
            </a:solidFill>
          </a:ln>
        </p:spPr>
      </p:cxnSp>
      <p:sp>
        <p:nvSpPr>
          <p:cNvPr id="22" name="Primary users list"/>
          <p:cNvSpPr txBox="1"/>
          <p:nvPr/>
        </p:nvSpPr>
        <p:spPr>
          <a:xfrm>
            <a:off x="868680" y="2606040"/>
            <a:ext cx="2834640" cy="2560320"/>
          </a:xfrm>
          <a:prstGeom prst="rect">
            <a:avLst/>
          </a:prstGeom>
          <a:noFill/>
          <a:ln/>
        </p:spPr>
        <p:txBody>
          <a:bodyPr wrap="square" lIns="0" tIns="0" rIns="0" bIns="0" rtlCol="0" anchor="t"/>
          <a:lstStyle/>
          <a:p>
            <a:pPr marL="228600" indent="-228600">
              <a:spcAft>
                <a:spcPts val="800"/>
              </a:spcAft>
              <a:buClr>
                <a:schemeClr val="accent1"/>
              </a:buClr>
              <a:buSzPct val="100000"/>
              <a:buChar char="•"/>
            </a:pPr>
            <a:r>
              <a:rPr lang="en-US" sz="1400" dirty="0">
                <a:solidFill>
                  <a:schemeClr val="tx1"/>
                </a:solidFill>
              </a:rPr>
              <a:t>Elderly people (60+) with Alzheimer’s or other dementia, mild to moderate stage</a:t>
            </a:r>
          </a:p>
          <a:p>
            <a:pPr marL="228600" indent="-228600">
              <a:spcAft>
                <a:spcPts val="800"/>
              </a:spcAft>
              <a:buClr>
                <a:schemeClr val="accent1"/>
              </a:buClr>
              <a:buSzPct val="100000"/>
              <a:buChar char="•"/>
            </a:pPr>
            <a:r>
              <a:rPr lang="en-US" sz="1400" dirty="0">
                <a:solidFill>
                  <a:schemeClr val="tx1"/>
                </a:solidFill>
              </a:rPr>
              <a:t>Family caregivers, who set up the app and support daily use</a:t>
            </a:r>
          </a:p>
        </p:txBody>
      </p:sp>
      <p:sp>
        <p:nvSpPr>
          <p:cNvPr id="23" name="Secondary stakeholders heading"/>
          <p:cNvSpPr txBox="1"/>
          <p:nvPr/>
        </p:nvSpPr>
        <p:spPr>
          <a:xfrm>
            <a:off x="4023360" y="2103120"/>
            <a:ext cx="2834640" cy="320040"/>
          </a:xfrm>
          <a:prstGeom prst="rect">
            <a:avLst/>
          </a:prstGeom>
          <a:noFill/>
          <a:ln/>
        </p:spPr>
        <p:txBody>
          <a:bodyPr wrap="square" lIns="0" tIns="0" rIns="0" bIns="0" rtlCol="0" anchor="t"/>
          <a:lstStyle/>
          <a:p>
            <a:pPr marL="0" indent="0">
              <a:buNone/>
            </a:pPr>
            <a:r>
              <a:rPr lang="en-US" sz="1600" b="1" dirty="0">
                <a:solidFill>
                  <a:schemeClr val="accent1"/>
                </a:solidFill>
              </a:rPr>
              <a:t>Secondary stakeholders</a:t>
            </a:r>
          </a:p>
        </p:txBody>
      </p:sp>
      <p:cxnSp>
        <p:nvCxnSpPr>
          <p:cNvPr id="24" name="Secondary stakeholders rule"/>
          <p:cNvCxnSpPr/>
          <p:nvPr/>
        </p:nvCxnSpPr>
        <p:spPr>
          <a:xfrm>
            <a:off x="4023360" y="2468880"/>
            <a:ext cx="2834640" cy="0"/>
          </a:xfrm>
          <a:prstGeom prst="line">
            <a:avLst/>
          </a:prstGeom>
          <a:ln w="12700">
            <a:solidFill>
              <a:schemeClr val="accent6"/>
            </a:solidFill>
          </a:ln>
        </p:spPr>
      </p:cxnSp>
      <p:sp>
        <p:nvSpPr>
          <p:cNvPr id="25" name="Secondary stakeholders list"/>
          <p:cNvSpPr txBox="1"/>
          <p:nvPr/>
        </p:nvSpPr>
        <p:spPr>
          <a:xfrm>
            <a:off x="4023360" y="2606040"/>
            <a:ext cx="2834640" cy="2560320"/>
          </a:xfrm>
          <a:prstGeom prst="rect">
            <a:avLst/>
          </a:prstGeom>
          <a:noFill/>
          <a:ln/>
        </p:spPr>
        <p:txBody>
          <a:bodyPr wrap="square" lIns="0" tIns="0" rIns="0" bIns="0" rtlCol="0" anchor="t"/>
          <a:lstStyle/>
          <a:p>
            <a:pPr marL="228600" indent="-228600">
              <a:spcAft>
                <a:spcPts val="800"/>
              </a:spcAft>
              <a:buClr>
                <a:schemeClr val="accent1"/>
              </a:buClr>
              <a:buSzPct val="100000"/>
              <a:buChar char="•"/>
            </a:pPr>
            <a:r>
              <a:rPr lang="en-US" sz="1400" dirty="0">
                <a:solidFill>
                  <a:schemeClr val="tx1"/>
                </a:solidFill>
              </a:rPr>
              <a:t>ASHA workers and ANMs</a:t>
            </a:r>
          </a:p>
          <a:p>
            <a:pPr marL="228600" indent="-228600">
              <a:spcAft>
                <a:spcPts val="800"/>
              </a:spcAft>
              <a:buClr>
                <a:schemeClr val="accent1"/>
              </a:buClr>
              <a:buSzPct val="100000"/>
              <a:buChar char="•"/>
            </a:pPr>
            <a:r>
              <a:rPr lang="en-US" sz="1400" dirty="0">
                <a:solidFill>
                  <a:schemeClr val="tx1"/>
                </a:solidFill>
              </a:rPr>
              <a:t>PHC doctors and geriatric specialists</a:t>
            </a:r>
          </a:p>
          <a:p>
            <a:pPr marL="228600" indent="-228600">
              <a:spcAft>
                <a:spcPts val="800"/>
              </a:spcAft>
              <a:buClr>
                <a:schemeClr val="accent1"/>
              </a:buClr>
              <a:buSzPct val="100000"/>
              <a:buChar char="•"/>
            </a:pPr>
            <a:r>
              <a:rPr lang="en-US" sz="1400" dirty="0">
                <a:solidFill>
                  <a:schemeClr val="tx1"/>
                </a:solidFill>
              </a:rPr>
              <a:t>State health department / NHM</a:t>
            </a:r>
          </a:p>
          <a:p>
            <a:pPr marL="228600" indent="-228600">
              <a:spcAft>
                <a:spcPts val="800"/>
              </a:spcAft>
              <a:buClr>
                <a:schemeClr val="accent1"/>
              </a:buClr>
              <a:buSzPct val="100000"/>
              <a:buChar char="•"/>
            </a:pPr>
            <a:r>
              <a:rPr lang="en-US" sz="1400" dirty="0">
                <a:solidFill>
                  <a:schemeClr val="tx1"/>
                </a:solidFill>
              </a:rPr>
              <a:t>Medical colleges and NGOs such as ARDSI</a:t>
            </a:r>
          </a:p>
          <a:p>
            <a:pPr marL="228600" indent="-228600">
              <a:spcAft>
                <a:spcPts val="800"/>
              </a:spcAft>
              <a:buClr>
                <a:schemeClr val="accent1"/>
              </a:buClr>
              <a:buSzPct val="100000"/>
              <a:buChar char="•"/>
            </a:pPr>
            <a:r>
              <a:rPr lang="en-US" sz="1400" dirty="0">
                <a:solidFill>
                  <a:schemeClr val="tx1"/>
                </a:solidFill>
              </a:rPr>
              <a:t>Local volunteers for language content</a:t>
            </a:r>
          </a:p>
        </p:txBody>
      </p:sp>
      <p:sp>
        <p:nvSpPr>
          <p:cNvPr id="26" name="Who benefits heading"/>
          <p:cNvSpPr txBox="1"/>
          <p:nvPr/>
        </p:nvSpPr>
        <p:spPr>
          <a:xfrm>
            <a:off x="7178040" y="2103120"/>
            <a:ext cx="2834640" cy="320040"/>
          </a:xfrm>
          <a:prstGeom prst="rect">
            <a:avLst/>
          </a:prstGeom>
          <a:noFill/>
          <a:ln/>
        </p:spPr>
        <p:txBody>
          <a:bodyPr wrap="square" lIns="0" tIns="0" rIns="0" bIns="0" rtlCol="0" anchor="t"/>
          <a:lstStyle/>
          <a:p>
            <a:pPr marL="0" indent="0">
              <a:buNone/>
            </a:pPr>
            <a:r>
              <a:rPr lang="en-US" sz="1600" b="1" dirty="0">
                <a:solidFill>
                  <a:schemeClr val="accent1"/>
                </a:solidFill>
              </a:rPr>
              <a:t>Who benefits</a:t>
            </a:r>
          </a:p>
        </p:txBody>
      </p:sp>
      <p:cxnSp>
        <p:nvCxnSpPr>
          <p:cNvPr id="27" name="Who benefits rule"/>
          <p:cNvCxnSpPr/>
          <p:nvPr/>
        </p:nvCxnSpPr>
        <p:spPr>
          <a:xfrm>
            <a:off x="7178040" y="2468880"/>
            <a:ext cx="2834640" cy="0"/>
          </a:xfrm>
          <a:prstGeom prst="line">
            <a:avLst/>
          </a:prstGeom>
          <a:ln w="12700">
            <a:solidFill>
              <a:schemeClr val="accent6"/>
            </a:solidFill>
          </a:ln>
        </p:spPr>
      </p:cxnSp>
      <p:sp>
        <p:nvSpPr>
          <p:cNvPr id="28" name="Who benefits list"/>
          <p:cNvSpPr txBox="1"/>
          <p:nvPr/>
        </p:nvSpPr>
        <p:spPr>
          <a:xfrm>
            <a:off x="7178040" y="2606040"/>
            <a:ext cx="2834640" cy="2560320"/>
          </a:xfrm>
          <a:prstGeom prst="rect">
            <a:avLst/>
          </a:prstGeom>
          <a:noFill/>
          <a:ln/>
        </p:spPr>
        <p:txBody>
          <a:bodyPr wrap="square" lIns="0" tIns="0" rIns="0" bIns="0" rtlCol="0" anchor="t"/>
          <a:lstStyle/>
          <a:p>
            <a:pPr marL="228600" indent="-228600">
              <a:spcAft>
                <a:spcPts val="800"/>
              </a:spcAft>
              <a:buClr>
                <a:schemeClr val="accent1"/>
              </a:buClr>
              <a:buSzPct val="100000"/>
              <a:buChar char="•"/>
            </a:pPr>
            <a:r>
              <a:rPr lang="en-US" sz="1400" b="1" dirty="0">
                <a:solidFill>
                  <a:schemeClr val="tx1"/>
                </a:solidFill>
              </a:rPr>
              <a:t>Patients: </a:t>
            </a:r>
            <a:r>
              <a:rPr lang="en-US" sz="1400" dirty="0">
                <a:solidFill>
                  <a:schemeClr val="tx1"/>
                </a:solidFill>
              </a:rPr>
              <a:t>regular mental stimulation and routine</a:t>
            </a:r>
          </a:p>
          <a:p>
            <a:pPr marL="228600" indent="-228600">
              <a:spcAft>
                <a:spcPts val="800"/>
              </a:spcAft>
              <a:buClr>
                <a:schemeClr val="accent1"/>
              </a:buClr>
              <a:buSzPct val="100000"/>
              <a:buChar char="•"/>
            </a:pPr>
            <a:r>
              <a:rPr lang="en-US" sz="1400" b="1" dirty="0">
                <a:solidFill>
                  <a:schemeClr val="tx1"/>
                </a:solidFill>
              </a:rPr>
              <a:t>Caregivers: </a:t>
            </a:r>
            <a:r>
              <a:rPr lang="en-US" sz="1400" dirty="0">
                <a:solidFill>
                  <a:schemeClr val="tx1"/>
                </a:solidFill>
              </a:rPr>
              <a:t>less strain, a clearer view of progress</a:t>
            </a:r>
          </a:p>
          <a:p>
            <a:pPr marL="228600" indent="-228600">
              <a:spcAft>
                <a:spcPts val="800"/>
              </a:spcAft>
              <a:buClr>
                <a:schemeClr val="accent1"/>
              </a:buClr>
              <a:buSzPct val="100000"/>
              <a:buChar char="•"/>
            </a:pPr>
            <a:r>
              <a:rPr lang="en-US" sz="1400" b="1" dirty="0">
                <a:solidFill>
                  <a:schemeClr val="tx1"/>
                </a:solidFill>
              </a:rPr>
              <a:t>Health workers: </a:t>
            </a:r>
            <a:r>
              <a:rPr lang="en-US" sz="1400" dirty="0">
                <a:solidFill>
                  <a:schemeClr val="tx1"/>
                </a:solidFill>
              </a:rPr>
              <a:t>early flags, easier follow-up</a:t>
            </a:r>
          </a:p>
          <a:p>
            <a:pPr marL="228600" indent="-228600">
              <a:spcAft>
                <a:spcPts val="800"/>
              </a:spcAft>
              <a:buClr>
                <a:schemeClr val="accent1"/>
              </a:buClr>
              <a:buSzPct val="100000"/>
              <a:buChar char="•"/>
            </a:pPr>
            <a:r>
              <a:rPr lang="en-US" sz="1400" b="1" dirty="0">
                <a:solidFill>
                  <a:schemeClr val="tx1"/>
                </a:solidFill>
              </a:rPr>
              <a:t>Remote communities: </a:t>
            </a:r>
            <a:r>
              <a:rPr lang="en-US" sz="1400" dirty="0">
                <a:solidFill>
                  <a:schemeClr val="tx1"/>
                </a:solidFill>
              </a:rPr>
              <a:t>care without long travel</a:t>
            </a:r>
          </a:p>
        </p:txBody>
      </p:sp>
      <p:cxnSp>
        <p:nvCxnSpPr>
          <p:cNvPr id="29" name="Bottom rule"/>
          <p:cNvCxnSpPr/>
          <p:nvPr/>
        </p:nvCxnSpPr>
        <p:spPr>
          <a:xfrm>
            <a:off x="868680" y="5303520"/>
            <a:ext cx="9144000" cy="0"/>
          </a:xfrm>
          <a:prstGeom prst="line">
            <a:avLst/>
          </a:prstGeom>
          <a:ln w="12700">
            <a:solidFill>
              <a:schemeClr val="accent6"/>
            </a:solidFill>
          </a:ln>
        </p:spPr>
      </p:cxnSp>
      <p:sp>
        <p:nvSpPr>
          <p:cNvPr id="30" name="Problem solved"/>
          <p:cNvSpPr txBox="1"/>
          <p:nvPr/>
        </p:nvSpPr>
        <p:spPr>
          <a:xfrm>
            <a:off x="868680" y="5394960"/>
            <a:ext cx="9144000" cy="640080"/>
          </a:xfrm>
          <a:prstGeom prst="rect">
            <a:avLst/>
          </a:prstGeom>
          <a:noFill/>
          <a:ln/>
        </p:spPr>
        <p:txBody>
          <a:bodyPr wrap="square" lIns="0" tIns="0" rIns="0" bIns="0" rtlCol="0" anchor="t"/>
          <a:lstStyle/>
          <a:p>
            <a:pPr marL="0" indent="0">
              <a:buNone/>
            </a:pPr>
            <a:r>
              <a:rPr lang="en-US" sz="1400" b="1" dirty="0">
                <a:solidFill>
                  <a:schemeClr val="accent2"/>
                </a:solidFill>
              </a:rPr>
              <a:t>Problem solved: </a:t>
            </a:r>
            <a:r>
              <a:rPr lang="en-US" sz="1400" dirty="0">
                <a:solidFill>
                  <a:schemeClr val="tx1"/>
                </a:solidFill>
              </a:rPr>
              <a:t>memory care that needed a specialist visit now reaches the patient at home, </a:t>
            </a:r>
            <a:r>
              <a:rPr lang="en-US" sz="1400" dirty="0"/>
              <a:t>I</a:t>
            </a:r>
            <a:r>
              <a:rPr lang="en-US" sz="1400" dirty="0">
                <a:solidFill>
                  <a:schemeClr val="tx1"/>
                </a:solidFill>
              </a:rPr>
              <a:t>n their own language.</a:t>
            </a:r>
            <a:r>
              <a:rPr lang="en-US" sz="1400" dirty="0"/>
              <a:t> We are creating a game software which improves the memory power and capacity of the Alzheimer patients and it send the progress report to their respective family , caretakers and doctors for consultation</a:t>
            </a:r>
            <a:endParaRPr lang="en-US" sz="1400" dirty="0">
              <a:solidFill>
                <a:schemeClr val="tx1"/>
              </a:solidFill>
            </a:endParaRPr>
          </a:p>
        </p:txBody>
      </p:sp>
      <p:sp>
        <p:nvSpPr>
          <p:cNvPr id="10"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HACKTIVATORS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How A</a:t>
            </a:r>
            <a:r>
              <a:rPr lang="en-US" b="1" dirty="0">
                <a:solidFill>
                  <a:schemeClr val="accent2"/>
                </a:solidFill>
              </a:rPr>
              <a:t>lzheimer</a:t>
            </a:r>
            <a:r>
              <a:rPr lang="en-US" sz="1800" b="1" dirty="0">
                <a:solidFill>
                  <a:schemeClr val="accent2"/>
                </a:solidFill>
              </a:rPr>
              <a:t> care works today in remote regions, and where it stops</a:t>
            </a:r>
            <a:endParaRPr lang="en-US" sz="1800" dirty="0"/>
          </a:p>
        </p:txBody>
      </p:sp>
      <p:sp>
        <p:nvSpPr>
          <p:cNvPr id="20" name="Existing scenario heading"/>
          <p:cNvSpPr txBox="1"/>
          <p:nvPr/>
        </p:nvSpPr>
        <p:spPr>
          <a:xfrm>
            <a:off x="868680" y="1965960"/>
            <a:ext cx="4297680" cy="320040"/>
          </a:xfrm>
          <a:prstGeom prst="rect">
            <a:avLst/>
          </a:prstGeom>
          <a:noFill/>
          <a:ln/>
        </p:spPr>
        <p:txBody>
          <a:bodyPr wrap="square" lIns="0" tIns="0" rIns="0" bIns="0" rtlCol="0" anchor="t"/>
          <a:lstStyle/>
          <a:p>
            <a:pPr marL="0" indent="0">
              <a:buNone/>
            </a:pPr>
            <a:r>
              <a:rPr lang="en-US" sz="1600" b="1" dirty="0">
                <a:solidFill>
                  <a:schemeClr val="accent1"/>
                </a:solidFill>
              </a:rPr>
              <a:t>Existing scenario</a:t>
            </a:r>
          </a:p>
        </p:txBody>
      </p:sp>
      <p:cxnSp>
        <p:nvCxnSpPr>
          <p:cNvPr id="21" name="Existing scenario rule"/>
          <p:cNvCxnSpPr/>
          <p:nvPr/>
        </p:nvCxnSpPr>
        <p:spPr>
          <a:xfrm>
            <a:off x="868680" y="2331720"/>
            <a:ext cx="4297680" cy="0"/>
          </a:xfrm>
          <a:prstGeom prst="line">
            <a:avLst/>
          </a:prstGeom>
          <a:ln w="12700">
            <a:solidFill>
              <a:schemeClr val="accent6"/>
            </a:solidFill>
          </a:ln>
        </p:spPr>
      </p:cxnSp>
      <p:sp>
        <p:nvSpPr>
          <p:cNvPr id="22" name="Existing scenario list"/>
          <p:cNvSpPr txBox="1"/>
          <p:nvPr/>
        </p:nvSpPr>
        <p:spPr>
          <a:xfrm>
            <a:off x="868680" y="2423160"/>
            <a:ext cx="4297680" cy="1463040"/>
          </a:xfrm>
          <a:prstGeom prst="rect">
            <a:avLst/>
          </a:prstGeom>
          <a:noFill/>
          <a:ln/>
        </p:spPr>
        <p:txBody>
          <a:bodyPr wrap="square" lIns="0" tIns="0" rIns="0" bIns="0" rtlCol="0" anchor="t"/>
          <a:lstStyle/>
          <a:p>
            <a:pPr marL="228600" indent="-228600">
              <a:spcAft>
                <a:spcPts val="700"/>
              </a:spcAft>
              <a:buClr>
                <a:schemeClr val="accent1"/>
              </a:buClr>
              <a:buSzPct val="100000"/>
              <a:buChar char="•"/>
            </a:pPr>
            <a:r>
              <a:rPr lang="en-US" sz="1400" dirty="0">
                <a:solidFill>
                  <a:schemeClr val="tx1"/>
                </a:solidFill>
              </a:rPr>
              <a:t>Memory loss is put down to age, so help comes late</a:t>
            </a:r>
          </a:p>
          <a:p>
            <a:pPr marL="228600" indent="-228600">
              <a:spcAft>
                <a:spcPts val="700"/>
              </a:spcAft>
              <a:buClr>
                <a:schemeClr val="accent1"/>
              </a:buClr>
              <a:buSzPct val="100000"/>
              <a:buChar char="•"/>
            </a:pPr>
            <a:r>
              <a:rPr lang="en-US" sz="1400" dirty="0">
                <a:solidFill>
                  <a:schemeClr val="tx1"/>
                </a:solidFill>
              </a:rPr>
              <a:t>Specialists and memory clinics sit in a few cities</a:t>
            </a:r>
          </a:p>
          <a:p>
            <a:pPr marL="228600" indent="-228600">
              <a:spcAft>
                <a:spcPts val="700"/>
              </a:spcAft>
              <a:buClr>
                <a:schemeClr val="accent1"/>
              </a:buClr>
              <a:buSzPct val="100000"/>
              <a:buChar char="•"/>
            </a:pPr>
            <a:r>
              <a:rPr lang="en-US" sz="1400" dirty="0">
                <a:solidFill>
                  <a:schemeClr val="tx1"/>
                </a:solidFill>
              </a:rPr>
              <a:t>weak connectivity make follow-up hard</a:t>
            </a:r>
          </a:p>
          <a:p>
            <a:pPr marL="228600" indent="-228600">
              <a:spcAft>
                <a:spcPts val="700"/>
              </a:spcAft>
              <a:buClr>
                <a:schemeClr val="accent1"/>
              </a:buClr>
              <a:buSzPct val="100000"/>
              <a:buChar char="•"/>
            </a:pPr>
            <a:r>
              <a:rPr lang="en-US" sz="1400" dirty="0">
                <a:solidFill>
                  <a:schemeClr val="tx1"/>
                </a:solidFill>
              </a:rPr>
              <a:t>Care falls on the family, with no training</a:t>
            </a:r>
          </a:p>
          <a:p>
            <a:pPr marL="228600" indent="-228600">
              <a:spcAft>
                <a:spcPts val="700"/>
              </a:spcAft>
              <a:buClr>
                <a:schemeClr val="accent1"/>
              </a:buClr>
              <a:buSzPct val="100000"/>
              <a:buChar char="•"/>
            </a:pPr>
            <a:r>
              <a:rPr lang="en-US" sz="1400" dirty="0"/>
              <a:t>Family loses hope in the patient and lacks concern on the patient</a:t>
            </a:r>
          </a:p>
          <a:p>
            <a:pPr marL="228600" indent="-228600">
              <a:spcAft>
                <a:spcPts val="700"/>
              </a:spcAft>
              <a:buClr>
                <a:schemeClr val="accent1"/>
              </a:buClr>
              <a:buSzPct val="100000"/>
              <a:buChar char="•"/>
            </a:pPr>
            <a:r>
              <a:rPr lang="en-US" sz="1400" dirty="0">
                <a:solidFill>
                  <a:schemeClr val="tx1"/>
                </a:solidFill>
              </a:rPr>
              <a:t>At last, the condition gets worse </a:t>
            </a:r>
          </a:p>
        </p:txBody>
      </p:sp>
      <p:sp>
        <p:nvSpPr>
          <p:cNvPr id="23" name="Relevant data heading"/>
          <p:cNvSpPr txBox="1"/>
          <p:nvPr/>
        </p:nvSpPr>
        <p:spPr>
          <a:xfrm>
            <a:off x="5577840" y="1965960"/>
            <a:ext cx="4297680" cy="320040"/>
          </a:xfrm>
          <a:prstGeom prst="rect">
            <a:avLst/>
          </a:prstGeom>
          <a:noFill/>
          <a:ln/>
        </p:spPr>
        <p:txBody>
          <a:bodyPr wrap="square" lIns="0" tIns="0" rIns="0" bIns="0" rtlCol="0" anchor="t"/>
          <a:lstStyle/>
          <a:p>
            <a:pPr marL="0" indent="0">
              <a:buNone/>
            </a:pPr>
            <a:r>
              <a:rPr lang="en-US" sz="1600" b="1" dirty="0">
                <a:solidFill>
                  <a:schemeClr val="accent1"/>
                </a:solidFill>
              </a:rPr>
              <a:t>Relevant data (Alzheimer’s)</a:t>
            </a:r>
          </a:p>
        </p:txBody>
      </p:sp>
      <p:cxnSp>
        <p:nvCxnSpPr>
          <p:cNvPr id="24" name="Relevant data rule"/>
          <p:cNvCxnSpPr/>
          <p:nvPr/>
        </p:nvCxnSpPr>
        <p:spPr>
          <a:xfrm>
            <a:off x="5577840" y="2331720"/>
            <a:ext cx="4297680" cy="0"/>
          </a:xfrm>
          <a:prstGeom prst="line">
            <a:avLst/>
          </a:prstGeom>
          <a:ln w="12700">
            <a:solidFill>
              <a:schemeClr val="accent6"/>
            </a:solidFill>
          </a:ln>
        </p:spPr>
      </p:cxnSp>
      <p:sp>
        <p:nvSpPr>
          <p:cNvPr id="25" name="Relevant data list"/>
          <p:cNvSpPr txBox="1"/>
          <p:nvPr/>
        </p:nvSpPr>
        <p:spPr>
          <a:xfrm>
            <a:off x="5577840" y="2423160"/>
            <a:ext cx="4297680" cy="1463040"/>
          </a:xfrm>
          <a:prstGeom prst="rect">
            <a:avLst/>
          </a:prstGeom>
          <a:noFill/>
          <a:ln/>
        </p:spPr>
        <p:txBody>
          <a:bodyPr wrap="square" lIns="0" tIns="0" rIns="0" bIns="0" rtlCol="0" anchor="t"/>
          <a:lstStyle/>
          <a:p>
            <a:pPr marL="228600" indent="-228600">
              <a:spcAft>
                <a:spcPts val="700"/>
              </a:spcAft>
              <a:buClr>
                <a:schemeClr val="accent1"/>
              </a:buClr>
              <a:buSzPct val="100000"/>
              <a:buChar char="•"/>
            </a:pPr>
            <a:r>
              <a:rPr lang="en-US" sz="1400" dirty="0">
                <a:solidFill>
                  <a:schemeClr val="tx1"/>
                </a:solidFill>
              </a:rPr>
              <a:t>Alzheimer’s is the most common form of dementia, about 60–70% of cases (WHO)</a:t>
            </a:r>
          </a:p>
          <a:p>
            <a:pPr marL="228600" indent="-228600">
              <a:spcAft>
                <a:spcPts val="700"/>
              </a:spcAft>
              <a:buClr>
                <a:schemeClr val="accent1"/>
              </a:buClr>
              <a:buSzPct val="100000"/>
              <a:buChar char="•"/>
            </a:pPr>
            <a:r>
              <a:rPr lang="en-US" sz="1400" dirty="0">
                <a:solidFill>
                  <a:schemeClr val="tx1"/>
                </a:solidFill>
              </a:rPr>
              <a:t>India: 8.8 million aged 60+ have dementia (LASI-DAD), an estimated 5–6 million with Alzheimer’s</a:t>
            </a:r>
          </a:p>
          <a:p>
            <a:pPr marL="228600" indent="-228600">
              <a:spcAft>
                <a:spcPts val="700"/>
              </a:spcAft>
              <a:buClr>
                <a:schemeClr val="accent1"/>
              </a:buClr>
              <a:buSzPct val="100000"/>
              <a:buChar char="•"/>
            </a:pPr>
            <a:r>
              <a:rPr lang="en-US" sz="1400" dirty="0">
                <a:solidFill>
                  <a:schemeClr val="tx1"/>
                </a:solidFill>
              </a:rPr>
              <a:t>In state of Assam: dementia in 8.5% of people aged 60+, projected to pass 4.5 lakh people by 2036</a:t>
            </a:r>
          </a:p>
          <a:p>
            <a:pPr marL="228600" indent="-228600">
              <a:spcAft>
                <a:spcPts val="700"/>
              </a:spcAft>
              <a:buClr>
                <a:schemeClr val="accent1"/>
              </a:buClr>
              <a:buSzPct val="100000"/>
              <a:buChar char="•"/>
            </a:pPr>
            <a:r>
              <a:rPr lang="en-US" sz="1400" dirty="0">
                <a:solidFill>
                  <a:schemeClr val="tx1"/>
                </a:solidFill>
              </a:rPr>
              <a:t>No cure yet; treatment only slows its progress</a:t>
            </a:r>
          </a:p>
        </p:txBody>
      </p:sp>
      <p:sp>
        <p:nvSpPr>
          <p:cNvPr id="26" name="Workflow heading"/>
          <p:cNvSpPr txBox="1"/>
          <p:nvPr/>
        </p:nvSpPr>
        <p:spPr>
          <a:xfrm>
            <a:off x="868680" y="4617720"/>
            <a:ext cx="9006840" cy="320040"/>
          </a:xfrm>
          <a:prstGeom prst="rect">
            <a:avLst/>
          </a:prstGeom>
          <a:noFill/>
          <a:ln/>
        </p:spPr>
        <p:txBody>
          <a:bodyPr wrap="square" lIns="0" tIns="0" rIns="0" bIns="0" rtlCol="0" anchor="t"/>
          <a:lstStyle/>
          <a:p>
            <a:pPr marL="0" indent="0">
              <a:buNone/>
            </a:pPr>
            <a:r>
              <a:rPr lang="en-US" sz="1600" b="1" dirty="0">
                <a:solidFill>
                  <a:schemeClr val="accent1"/>
                </a:solidFill>
              </a:rPr>
              <a:t>Current workflow</a:t>
            </a:r>
          </a:p>
        </p:txBody>
      </p:sp>
      <p:cxnSp>
        <p:nvCxnSpPr>
          <p:cNvPr id="27" name="Workflow rule"/>
          <p:cNvCxnSpPr/>
          <p:nvPr/>
        </p:nvCxnSpPr>
        <p:spPr>
          <a:xfrm>
            <a:off x="868680" y="4983480"/>
            <a:ext cx="9006840" cy="0"/>
          </a:xfrm>
          <a:prstGeom prst="line">
            <a:avLst/>
          </a:prstGeom>
          <a:ln w="12700">
            <a:solidFill>
              <a:schemeClr val="accent6"/>
            </a:solidFill>
          </a:ln>
        </p:spPr>
      </p:cxnSp>
      <p:sp>
        <p:nvSpPr>
          <p:cNvPr id="60" name="Workflow text"/>
          <p:cNvSpPr txBox="1"/>
          <p:nvPr/>
        </p:nvSpPr>
        <p:spPr>
          <a:xfrm>
            <a:off x="868680" y="5166360"/>
            <a:ext cx="9006840" cy="822960"/>
          </a:xfrm>
          <a:prstGeom prst="rect">
            <a:avLst/>
          </a:prstGeom>
          <a:noFill/>
          <a:ln/>
        </p:spPr>
        <p:txBody>
          <a:bodyPr wrap="square" lIns="0" tIns="0" rIns="0" bIns="0" rtlCol="0" anchor="t"/>
          <a:lstStyle/>
          <a:p>
            <a:pPr marL="0" indent="0">
              <a:lnSpc>
                <a:spcPct val="130000"/>
              </a:lnSpc>
              <a:buNone/>
            </a:pPr>
            <a:r>
              <a:rPr lang="en-US" sz="1400" dirty="0"/>
              <a:t>(1)</a:t>
            </a:r>
            <a:r>
              <a:rPr lang="en-US" sz="1400" dirty="0">
                <a:solidFill>
                  <a:schemeClr val="tx1"/>
                </a:solidFill>
              </a:rPr>
              <a:t>Family notices memory loss  →(2) Consulting The Local doctor  →(3)  Referral to city hospital  →(4) Taking Medicines to slow down the progress of the disease  →(5)  Family copes alone</a:t>
            </a:r>
          </a:p>
        </p:txBody>
      </p:sp>
      <p:sp>
        <p:nvSpPr>
          <p:cNvPr id="10"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HACKTIVATORS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370000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dirty="0">
                <a:solidFill>
                  <a:schemeClr val="accent1"/>
                </a:solidFill>
              </a:rPr>
              <a:t>Main difficulties and bottlenecks: </a:t>
            </a:r>
            <a:r>
              <a:rPr lang="en-US" sz="1800" dirty="0">
                <a:solidFill>
                  <a:schemeClr val="tx1"/>
                </a:solidFill>
              </a:rPr>
              <a:t>Alzheimer’s patients quickly lose interest or feel frustrated when games are too hard, too childish or confusing. Many older users also find apps difficult to use, and progress is hard to track without testing them, A caretaker must be involved in the procedure for the better result.</a:t>
            </a:r>
            <a:endParaRPr lang="en-US" sz="1800" dirty="0"/>
          </a:p>
          <a:p>
            <a:pPr marL="279400" indent="-279400">
              <a:spcAft>
                <a:spcPts val="1000"/>
              </a:spcAft>
              <a:buClr>
                <a:schemeClr val="accent1"/>
              </a:buClr>
              <a:buSzPct val="100000"/>
              <a:buChar char="•"/>
            </a:pPr>
            <a:r>
              <a:rPr lang="en-US" sz="1800" b="1" dirty="0">
                <a:solidFill>
                  <a:schemeClr val="accent1"/>
                </a:solidFill>
              </a:rPr>
              <a:t>Root causes behind them: </a:t>
            </a:r>
            <a:r>
              <a:rPr lang="en-US" sz="1800" dirty="0">
                <a:solidFill>
                  <a:schemeClr val="tx1"/>
                </a:solidFill>
              </a:rPr>
              <a:t>Alzheimer’s disease slowly damages brain cells, which weakens memory, attention and learning. Most apps are not built for these needs, and being quizzed creates fear and stress.</a:t>
            </a:r>
            <a:endParaRPr lang="en-US" sz="1800" dirty="0"/>
          </a:p>
          <a:p>
            <a:pPr marL="279400" indent="-279400">
              <a:spcAft>
                <a:spcPts val="1000"/>
              </a:spcAft>
              <a:buClr>
                <a:schemeClr val="accent1"/>
              </a:buClr>
              <a:buSzPct val="100000"/>
              <a:buChar char="•"/>
            </a:pPr>
            <a:r>
              <a:rPr lang="en-US" sz="1800" b="1" dirty="0">
                <a:solidFill>
                  <a:schemeClr val="accent1"/>
                </a:solidFill>
              </a:rPr>
              <a:t>Consequences of leaving them unsolved: </a:t>
            </a:r>
            <a:r>
              <a:rPr lang="en-US" sz="1800" dirty="0">
                <a:solidFill>
                  <a:schemeClr val="tx1"/>
                </a:solidFill>
              </a:rPr>
              <a:t>Patients lose their independence faster, family caregivers face more stress and burnout, and care becomes more expensive because people need full-time help earlier.</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HACKTIVATORS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 and where it falls short </a:t>
            </a:r>
            <a:endParaRPr lang="en-US" sz="1800" dirty="0"/>
          </a:p>
        </p:txBody>
      </p:sp>
      <p:graphicFrame>
        <p:nvGraphicFramePr>
          <p:cNvPr id="10" name="Existing Solutions Table"/>
          <p:cNvGraphicFramePr>
            <a:graphicFrameLocks noGrp="1"/>
          </p:cNvGraphicFramePr>
          <p:nvPr>
            <p:extLst>
              <p:ext uri="{D42A27DB-BD31-4B8C-83A1-F6EECF244321}">
                <p14:modId xmlns:p14="http://schemas.microsoft.com/office/powerpoint/2010/main" val="3871284003"/>
              </p:ext>
            </p:extLst>
          </p:nvPr>
        </p:nvGraphicFramePr>
        <p:xfrm>
          <a:off x="548640" y="2011680"/>
          <a:ext cx="11094415" cy="2980000"/>
        </p:xfrm>
        <a:graphic>
          <a:graphicData uri="http://schemas.openxmlformats.org/drawingml/2006/table">
            <a:tbl>
              <a:tblPr/>
              <a:tblGrid>
                <a:gridCol w="2900000">
                  <a:extLst>
                    <a:ext uri="{9D8B030D-6E8A-4147-A177-3AD203B41FA5}">
                      <a16:colId xmlns:a16="http://schemas.microsoft.com/office/drawing/2014/main" val="20000"/>
                    </a:ext>
                  </a:extLst>
                </a:gridCol>
                <a:gridCol w="2700000">
                  <a:extLst>
                    <a:ext uri="{9D8B030D-6E8A-4147-A177-3AD203B41FA5}">
                      <a16:colId xmlns:a16="http://schemas.microsoft.com/office/drawing/2014/main" val="20001"/>
                    </a:ext>
                  </a:extLst>
                </a:gridCol>
                <a:gridCol w="5494415">
                  <a:extLst>
                    <a:ext uri="{9D8B030D-6E8A-4147-A177-3AD203B41FA5}">
                      <a16:colId xmlns:a16="http://schemas.microsoft.com/office/drawing/2014/main" val="20002"/>
                    </a:ext>
                  </a:extLst>
                </a:gridCol>
              </a:tblGrid>
              <a:tr h="420000">
                <a:tc>
                  <a:txBody>
                    <a:bodyPr/>
                    <a:lstStyle/>
                    <a:p>
                      <a:pPr marL="0" indent="0">
                        <a:buNone/>
                      </a:pPr>
                      <a:r>
                        <a:rPr lang="en-US" sz="1400" b="1" dirty="0">
                          <a:solidFill>
                            <a:schemeClr val="bg1"/>
                          </a:solidFill>
                          <a:latin typeface="Calibri"/>
                          <a:ea typeface="Calibri"/>
                          <a:cs typeface="Calibri"/>
                        </a:rPr>
                        <a:t>Approach</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accent1"/>
                    </a:solidFill>
                  </a:tcPr>
                </a:tc>
                <a:tc>
                  <a:txBody>
                    <a:bodyPr/>
                    <a:lstStyle/>
                    <a:p>
                      <a:pPr marL="0" indent="0">
                        <a:buNone/>
                      </a:pPr>
                      <a:r>
                        <a:rPr lang="en-US" sz="1400" b="1" dirty="0">
                          <a:solidFill>
                            <a:schemeClr val="bg1"/>
                          </a:solidFill>
                          <a:latin typeface="Calibri"/>
                          <a:ea typeface="Calibri"/>
                          <a:cs typeface="Calibri"/>
                        </a:rPr>
                        <a:t>What it offers</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accent1"/>
                    </a:solidFill>
                  </a:tcPr>
                </a:tc>
                <a:tc>
                  <a:txBody>
                    <a:bodyPr/>
                    <a:lstStyle/>
                    <a:p>
                      <a:pPr marL="0" indent="0">
                        <a:buNone/>
                      </a:pPr>
                      <a:r>
                        <a:rPr lang="en-US" sz="1400" b="1" dirty="0">
                          <a:solidFill>
                            <a:schemeClr val="bg1"/>
                          </a:solidFill>
                          <a:latin typeface="Calibri"/>
                          <a:ea typeface="Calibri"/>
                          <a:cs typeface="Calibri"/>
                        </a:rPr>
                        <a:t>Where it falls short</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accent1"/>
                    </a:solidFill>
                  </a:tcPr>
                </a:tc>
                <a:extLst>
                  <a:ext uri="{0D108BD9-81ED-4DB2-BD59-A6C34878D82A}">
                    <a16:rowId xmlns:a16="http://schemas.microsoft.com/office/drawing/2014/main" val="10000"/>
                  </a:ext>
                </a:extLst>
              </a:tr>
              <a:tr h="640000">
                <a:tc>
                  <a:txBody>
                    <a:bodyPr/>
                    <a:lstStyle/>
                    <a:p>
                      <a:pPr marL="0" indent="0">
                        <a:buNone/>
                      </a:pPr>
                      <a:r>
                        <a:rPr lang="en-US" sz="1400" b="1" dirty="0">
                          <a:solidFill>
                            <a:schemeClr val="tx1"/>
                          </a:solidFill>
                          <a:latin typeface="Calibri"/>
                          <a:ea typeface="Calibri"/>
                          <a:cs typeface="Calibri"/>
                        </a:rPr>
                        <a:t>Memory clinics &amp; therapy centres</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Trained therapists, structured sessions</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Few and far apart, mostly in big cities. Costly, and the patient needs someone to take them there</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extLst>
                  <a:ext uri="{0D108BD9-81ED-4DB2-BD59-A6C34878D82A}">
                    <a16:rowId xmlns:a16="http://schemas.microsoft.com/office/drawing/2014/main" val="10001"/>
                  </a:ext>
                </a:extLst>
              </a:tr>
              <a:tr h="640000">
                <a:tc>
                  <a:txBody>
                    <a:bodyPr/>
                    <a:lstStyle/>
                    <a:p>
                      <a:pPr marL="0" indent="0">
                        <a:buNone/>
                      </a:pPr>
                      <a:r>
                        <a:rPr lang="en-US" sz="1400" b="1" dirty="0">
                          <a:solidFill>
                            <a:schemeClr val="tx1"/>
                          </a:solidFill>
                          <a:latin typeface="Calibri"/>
                          <a:ea typeface="Calibri"/>
                          <a:cs typeface="Calibri"/>
                        </a:rPr>
                        <a:t>Brain-training apps</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Puzzle games on a phone or tablet</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Made for healthy adults, not Alzheimer's patients. Need internet and a subscription; menus are confusing</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extLst>
                  <a:ext uri="{0D108BD9-81ED-4DB2-BD59-A6C34878D82A}">
                    <a16:rowId xmlns:a16="http://schemas.microsoft.com/office/drawing/2014/main" val="10002"/>
                  </a:ext>
                </a:extLst>
              </a:tr>
              <a:tr h="640000">
                <a:tc>
                  <a:txBody>
                    <a:bodyPr/>
                    <a:lstStyle/>
                    <a:p>
                      <a:pPr marL="0" indent="0">
                        <a:buNone/>
                      </a:pPr>
                      <a:r>
                        <a:rPr lang="en-US" sz="1400" b="1" dirty="0">
                          <a:solidFill>
                            <a:schemeClr val="tx1"/>
                          </a:solidFill>
                          <a:latin typeface="Calibri"/>
                          <a:ea typeface="Calibri"/>
                          <a:cs typeface="Calibri"/>
                        </a:rPr>
                        <a:t>Reminder apps &amp; paper notes</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Alarms for medicines and routines</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Only reminds, no mental exercise. The caregiver has to set up and check everything</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extLst>
                  <a:ext uri="{0D108BD9-81ED-4DB2-BD59-A6C34878D82A}">
                    <a16:rowId xmlns:a16="http://schemas.microsoft.com/office/drawing/2014/main" val="10003"/>
                  </a:ext>
                </a:extLst>
              </a:tr>
              <a:tr h="640000">
                <a:tc>
                  <a:txBody>
                    <a:bodyPr/>
                    <a:lstStyle/>
                    <a:p>
                      <a:pPr marL="0" indent="0">
                        <a:buNone/>
                      </a:pPr>
                      <a:r>
                        <a:rPr lang="en-US" sz="1400" b="1" dirty="0">
                          <a:solidFill>
                            <a:schemeClr val="tx1"/>
                          </a:solidFill>
                          <a:latin typeface="Calibri"/>
                          <a:ea typeface="Calibri"/>
                          <a:cs typeface="Calibri"/>
                        </a:rPr>
                        <a:t>Family caregivers</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Daily prompting, company, routine</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Unpaid and untrained, often worn out. No way to see if the patient is improving</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extLst>
                  <a:ext uri="{0D108BD9-81ED-4DB2-BD59-A6C34878D82A}">
                    <a16:rowId xmlns:a16="http://schemas.microsoft.com/office/drawing/2014/main" val="10004"/>
                  </a:ext>
                </a:extLst>
              </a:tr>
            </a:tbl>
          </a:graphicData>
        </a:graphic>
      </p:graphicFrame>
      <p:sp>
        <p:nvSpPr>
          <p:cNvPr id="11" name="Gap Box"/>
          <p:cNvSpPr/>
          <p:nvPr/>
        </p:nvSpPr>
        <p:spPr>
          <a:xfrm>
            <a:off x="548640" y="5260000"/>
            <a:ext cx="11094415" cy="780000"/>
          </a:xfrm>
          <a:prstGeom prst="roundRect">
            <a:avLst>
              <a:gd name="adj" fmla="val 12000"/>
            </a:avLst>
          </a:prstGeom>
          <a:solidFill>
            <a:schemeClr val="bg2"/>
          </a:solidFill>
          <a:ln w="9525">
            <a:solidFill>
              <a:schemeClr val="accent6"/>
            </a:solidFill>
          </a:ln>
        </p:spPr>
        <p:txBody>
          <a:bodyPr wrap="square" lIns="228600" tIns="45720" rIns="228600" bIns="45720" rtlCol="0" anchor="ctr"/>
          <a:lstStyle/>
          <a:p>
            <a:pPr marL="0" indent="0">
              <a:buNone/>
            </a:pPr>
            <a:r>
              <a:rPr lang="en-US" sz="1600" b="1" dirty="0">
                <a:solidFill>
                  <a:schemeClr val="accent2"/>
                </a:solidFill>
              </a:rPr>
              <a:t>The gap: </a:t>
            </a:r>
            <a:r>
              <a:rPr lang="en-US" sz="1600" dirty="0">
                <a:solidFill>
                  <a:schemeClr val="tx1"/>
                </a:solidFill>
              </a:rPr>
              <a:t>nothing works offline, is simple enough for a patient to use alone, and tracks progress for the caregiver. This report will be automatically sent or added to the cloud storage of the family member of the doctor for consultation</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HACKTIVATORS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graphicFrame>
        <p:nvGraphicFramePr>
          <p:cNvPr id="10" name="Resources Table"/>
          <p:cNvGraphicFramePr>
            <a:graphicFrameLocks noGrp="1"/>
          </p:cNvGraphicFramePr>
          <p:nvPr>
            <p:extLst>
              <p:ext uri="{D42A27DB-BD31-4B8C-83A1-F6EECF244321}">
                <p14:modId xmlns:p14="http://schemas.microsoft.com/office/powerpoint/2010/main" val="3830931625"/>
              </p:ext>
            </p:extLst>
          </p:nvPr>
        </p:nvGraphicFramePr>
        <p:xfrm>
          <a:off x="547077" y="1980590"/>
          <a:ext cx="11095978" cy="3451091"/>
        </p:xfrm>
        <a:graphic>
          <a:graphicData uri="http://schemas.openxmlformats.org/drawingml/2006/table">
            <a:tbl>
              <a:tblPr/>
              <a:tblGrid>
                <a:gridCol w="2501563">
                  <a:extLst>
                    <a:ext uri="{9D8B030D-6E8A-4147-A177-3AD203B41FA5}">
                      <a16:colId xmlns:a16="http://schemas.microsoft.com/office/drawing/2014/main" val="20000"/>
                    </a:ext>
                  </a:extLst>
                </a:gridCol>
                <a:gridCol w="4829268">
                  <a:extLst>
                    <a:ext uri="{9D8B030D-6E8A-4147-A177-3AD203B41FA5}">
                      <a16:colId xmlns:a16="http://schemas.microsoft.com/office/drawing/2014/main" val="20001"/>
                    </a:ext>
                  </a:extLst>
                </a:gridCol>
                <a:gridCol w="3765147">
                  <a:extLst>
                    <a:ext uri="{9D8B030D-6E8A-4147-A177-3AD203B41FA5}">
                      <a16:colId xmlns:a16="http://schemas.microsoft.com/office/drawing/2014/main" val="20002"/>
                    </a:ext>
                  </a:extLst>
                </a:gridCol>
              </a:tblGrid>
              <a:tr h="423818">
                <a:tc>
                  <a:txBody>
                    <a:bodyPr/>
                    <a:lstStyle/>
                    <a:p>
                      <a:pPr marL="0" indent="0">
                        <a:buNone/>
                      </a:pPr>
                      <a:r>
                        <a:rPr lang="en-US" sz="1400" b="1" dirty="0">
                          <a:solidFill>
                            <a:schemeClr val="bg1"/>
                          </a:solidFill>
                          <a:latin typeface="Calibri"/>
                          <a:ea typeface="Calibri"/>
                          <a:cs typeface="Calibri"/>
                        </a:rPr>
                        <a:t>Resource</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accent1"/>
                    </a:solidFill>
                  </a:tcPr>
                </a:tc>
                <a:tc>
                  <a:txBody>
                    <a:bodyPr/>
                    <a:lstStyle/>
                    <a:p>
                      <a:pPr marL="0" indent="0">
                        <a:buNone/>
                      </a:pPr>
                      <a:r>
                        <a:rPr lang="en-US" sz="1400" b="1" dirty="0">
                          <a:solidFill>
                            <a:schemeClr val="bg1"/>
                          </a:solidFill>
                          <a:latin typeface="Calibri"/>
                          <a:ea typeface="Calibri"/>
                          <a:cs typeface="Calibri"/>
                        </a:rPr>
                        <a:t>What we need ?</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accent1"/>
                    </a:solidFill>
                  </a:tcPr>
                </a:tc>
                <a:tc>
                  <a:txBody>
                    <a:bodyPr/>
                    <a:lstStyle/>
                    <a:p>
                      <a:pPr marL="0" indent="0">
                        <a:buNone/>
                      </a:pPr>
                      <a:r>
                        <a:rPr lang="en-US" sz="1400" b="1" dirty="0">
                          <a:solidFill>
                            <a:schemeClr val="bg1"/>
                          </a:solidFill>
                          <a:latin typeface="Calibri"/>
                          <a:ea typeface="Calibri"/>
                          <a:cs typeface="Calibri"/>
                        </a:rPr>
                        <a:t>Why ?</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accent1"/>
                    </a:solidFill>
                  </a:tcPr>
                </a:tc>
                <a:extLst>
                  <a:ext uri="{0D108BD9-81ED-4DB2-BD59-A6C34878D82A}">
                    <a16:rowId xmlns:a16="http://schemas.microsoft.com/office/drawing/2014/main" val="10000"/>
                  </a:ext>
                </a:extLst>
              </a:tr>
              <a:tr h="1009091">
                <a:tc>
                  <a:txBody>
                    <a:bodyPr/>
                    <a:lstStyle/>
                    <a:p>
                      <a:pPr marL="0" indent="0">
                        <a:buNone/>
                      </a:pPr>
                      <a:r>
                        <a:rPr lang="en-US" sz="1400" b="1" dirty="0">
                          <a:solidFill>
                            <a:schemeClr val="tx1"/>
                          </a:solidFill>
                          <a:latin typeface="Calibri"/>
                          <a:ea typeface="Calibri"/>
                          <a:cs typeface="Calibri"/>
                        </a:rPr>
                        <a:t>Hardware</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Low-cost Android tablet or phone</a:t>
                      </a:r>
                    </a:p>
                    <a:p>
                      <a:pPr marL="0" indent="0">
                        <a:buNone/>
                      </a:pPr>
                      <a:r>
                        <a:rPr lang="en-US" sz="1400" dirty="0">
                          <a:solidFill>
                            <a:schemeClr val="tx1"/>
                          </a:solidFill>
                          <a:latin typeface="Calibri"/>
                          <a:ea typeface="Calibri"/>
                          <a:cs typeface="Calibri"/>
                        </a:rPr>
                        <a:t>Large screen and a small speaker</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Patients can use it at home with no special equipment</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extLst>
                  <a:ext uri="{0D108BD9-81ED-4DB2-BD59-A6C34878D82A}">
                    <a16:rowId xmlns:a16="http://schemas.microsoft.com/office/drawing/2014/main" val="10001"/>
                  </a:ext>
                </a:extLst>
              </a:tr>
              <a:tr h="1009091">
                <a:tc>
                  <a:txBody>
                    <a:bodyPr/>
                    <a:lstStyle/>
                    <a:p>
                      <a:pPr marL="0" indent="0">
                        <a:buNone/>
                      </a:pPr>
                      <a:r>
                        <a:rPr lang="en-US" sz="1400" b="1" dirty="0">
                          <a:solidFill>
                            <a:schemeClr val="tx1"/>
                          </a:solidFill>
                          <a:latin typeface="Calibri"/>
                          <a:ea typeface="Calibri"/>
                          <a:cs typeface="Calibri"/>
                        </a:rPr>
                        <a:t>Software</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An App with simple games and reminders</a:t>
                      </a:r>
                    </a:p>
                    <a:p>
                      <a:pPr marL="0" indent="0">
                        <a:buNone/>
                      </a:pPr>
                      <a:r>
                        <a:rPr lang="en-US" sz="1400" dirty="0">
                          <a:solidFill>
                            <a:schemeClr val="tx1"/>
                          </a:solidFill>
                          <a:latin typeface="Calibri"/>
                          <a:ea typeface="Calibri"/>
                          <a:cs typeface="Calibri"/>
                        </a:rPr>
                        <a:t>Small on-device model to adjust difficulty</a:t>
                      </a:r>
                    </a:p>
                    <a:p>
                      <a:pPr marL="0" indent="0">
                        <a:buNone/>
                      </a:pPr>
                      <a:r>
                        <a:rPr lang="en-US" sz="1400" dirty="0">
                          <a:solidFill>
                            <a:schemeClr val="tx1"/>
                          </a:solidFill>
                          <a:latin typeface="Calibri"/>
                          <a:ea typeface="Calibri"/>
                          <a:cs typeface="Calibri"/>
                        </a:rPr>
                        <a:t>Local storage and  A Embedded cloud storage for progress records</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Works with internet, and data stays on the device and sent to the caretakers and family members </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extLst>
                  <a:ext uri="{0D108BD9-81ED-4DB2-BD59-A6C34878D82A}">
                    <a16:rowId xmlns:a16="http://schemas.microsoft.com/office/drawing/2014/main" val="10002"/>
                  </a:ext>
                </a:extLst>
              </a:tr>
              <a:tr h="1009091">
                <a:tc>
                  <a:txBody>
                    <a:bodyPr/>
                    <a:lstStyle/>
                    <a:p>
                      <a:pPr marL="0" indent="0">
                        <a:buNone/>
                      </a:pPr>
                      <a:r>
                        <a:rPr lang="en-US" sz="1400" b="1" dirty="0">
                          <a:solidFill>
                            <a:schemeClr val="tx1"/>
                          </a:solidFill>
                          <a:latin typeface="Calibri"/>
                          <a:ea typeface="Calibri"/>
                          <a:cs typeface="Calibri"/>
                        </a:rPr>
                        <a:t>Other (including people)</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A neurologist or therapist to guide the exercises</a:t>
                      </a:r>
                    </a:p>
                    <a:p>
                      <a:pPr marL="0" indent="0">
                        <a:buNone/>
                      </a:pPr>
                      <a:r>
                        <a:rPr lang="en-US" sz="1400" dirty="0">
                          <a:solidFill>
                            <a:schemeClr val="tx1"/>
                          </a:solidFill>
                          <a:latin typeface="Calibri"/>
                          <a:ea typeface="Calibri"/>
                          <a:cs typeface="Calibri"/>
                        </a:rPr>
                        <a:t>Developers and a UI designer</a:t>
                      </a:r>
                    </a:p>
                    <a:p>
                      <a:pPr marL="0" indent="0">
                        <a:buNone/>
                      </a:pPr>
                      <a:r>
                        <a:rPr lang="en-US" sz="1400" dirty="0">
                          <a:solidFill>
                            <a:schemeClr val="tx1"/>
                          </a:solidFill>
                          <a:latin typeface="Calibri"/>
                          <a:ea typeface="Calibri"/>
                          <a:cs typeface="Calibri"/>
                        </a:rPr>
                        <a:t>Patients and caregivers for testing</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tc>
                  <a:txBody>
                    <a:bodyPr/>
                    <a:lstStyle/>
                    <a:p>
                      <a:pPr marL="0" indent="0">
                        <a:buNone/>
                      </a:pPr>
                      <a:r>
                        <a:rPr lang="en-US" sz="1400" dirty="0">
                          <a:solidFill>
                            <a:schemeClr val="tx1"/>
                          </a:solidFill>
                          <a:latin typeface="Calibri"/>
                          <a:ea typeface="Calibri"/>
                          <a:cs typeface="Calibri"/>
                        </a:rPr>
                        <a:t>Keeps the exercises sensible and easy to use</a:t>
                      </a:r>
                    </a:p>
                  </a:txBody>
                  <a:tcPr marL="137160" marR="137160" anchor="ctr">
                    <a:lnL w="9525" cap="flat" cmpd="sng" algn="ctr">
                      <a:solidFill>
                        <a:srgbClr val="D3E6DD"/>
                      </a:solidFill>
                      <a:prstDash val="solid"/>
                      <a:round/>
                    </a:lnL>
                    <a:lnR w="9525" cap="flat" cmpd="sng" algn="ctr">
                      <a:solidFill>
                        <a:srgbClr val="D3E6DD"/>
                      </a:solidFill>
                      <a:prstDash val="solid"/>
                      <a:round/>
                    </a:lnR>
                    <a:lnT w="9525" cap="flat" cmpd="sng" algn="ctr">
                      <a:solidFill>
                        <a:srgbClr val="D3E6DD"/>
                      </a:solidFill>
                      <a:prstDash val="solid"/>
                      <a:round/>
                    </a:lnT>
                    <a:lnB w="9525" cap="flat" cmpd="sng" algn="ctr">
                      <a:solidFill>
                        <a:srgbClr val="D3E6DD"/>
                      </a:solidFill>
                      <a:prstDash val="solid"/>
                      <a:roun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HACKTIVATORS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21" name="Card 1"/>
          <p:cNvSpPr/>
          <p:nvPr/>
        </p:nvSpPr>
        <p:spPr>
          <a:xfrm>
            <a:off x="548640" y="2011680"/>
            <a:ext cx="3400000" cy="3500000"/>
          </a:xfrm>
          <a:prstGeom prst="roundRect">
            <a:avLst>
              <a:gd name="adj" fmla="val 6000"/>
            </a:avLst>
          </a:prstGeom>
          <a:solidFill>
            <a:schemeClr val="bg1"/>
          </a:solidFill>
          <a:ln w="9525">
            <a:solidFill>
              <a:schemeClr val="accent6"/>
            </a:solidFill>
          </a:ln>
        </p:spPr>
      </p:sp>
      <p:sp>
        <p:nvSpPr>
          <p:cNvPr id="22" name="Number Hex 1"/>
          <p:cNvSpPr/>
          <p:nvPr/>
        </p:nvSpPr>
        <p:spPr>
          <a:xfrm>
            <a:off x="798640" y="2261680"/>
            <a:ext cx="640000" cy="554000"/>
          </a:xfrm>
          <a:prstGeom prst="hexagon">
            <a:avLst/>
          </a:prstGeom>
          <a:solidFill>
            <a:schemeClr val="accent3"/>
          </a:solidFill>
          <a:ln>
            <a:noFill/>
          </a:ln>
        </p:spPr>
        <p:txBody>
          <a:bodyPr lIns="0" tIns="0" rIns="0" bIns="0" anchor="ctr"/>
          <a:lstStyle/>
          <a:p>
            <a:pPr marL="0" indent="0" algn="ctr">
              <a:buNone/>
            </a:pPr>
            <a:r>
              <a:rPr lang="en-US" sz="2000" b="1" dirty="0">
                <a:solidFill>
                  <a:schemeClr val="bg1"/>
                </a:solidFill>
              </a:rPr>
              <a:t>1</a:t>
            </a:r>
          </a:p>
        </p:txBody>
      </p:sp>
      <p:sp>
        <p:nvSpPr>
          <p:cNvPr id="23" name="Heading 1"/>
          <p:cNvSpPr txBox="1"/>
          <p:nvPr/>
        </p:nvSpPr>
        <p:spPr>
          <a:xfrm>
            <a:off x="798640" y="3061680"/>
            <a:ext cx="2900000" cy="450000"/>
          </a:xfrm>
          <a:prstGeom prst="rect">
            <a:avLst/>
          </a:prstGeom>
          <a:noFill/>
        </p:spPr>
        <p:txBody>
          <a:bodyPr wrap="square" lIns="0" tIns="0" rIns="0" bIns="0" anchor="ctr"/>
          <a:lstStyle/>
          <a:p>
            <a:pPr marL="0" indent="0">
              <a:buNone/>
            </a:pPr>
            <a:r>
              <a:rPr lang="en-US" sz="1800" b="1" dirty="0">
                <a:solidFill>
                  <a:schemeClr val="accent2"/>
                </a:solidFill>
              </a:rPr>
              <a:t>What we intend to do ?</a:t>
            </a:r>
          </a:p>
        </p:txBody>
      </p:sp>
      <p:sp>
        <p:nvSpPr>
          <p:cNvPr id="24" name="Body 1"/>
          <p:cNvSpPr txBox="1"/>
          <p:nvPr/>
        </p:nvSpPr>
        <p:spPr>
          <a:xfrm>
            <a:off x="798640" y="3661680"/>
            <a:ext cx="2900000" cy="1650000"/>
          </a:xfrm>
          <a:prstGeom prst="rect">
            <a:avLst/>
          </a:prstGeom>
          <a:noFill/>
        </p:spPr>
        <p:txBody>
          <a:bodyPr wrap="square" lIns="0" tIns="0" rIns="0" bIns="0" anchor="t"/>
          <a:lstStyle/>
          <a:p>
            <a:pPr marL="228600" indent="-228600">
              <a:spcAft>
                <a:spcPts val="1000"/>
              </a:spcAft>
              <a:buClr>
                <a:schemeClr val="accent1"/>
              </a:buClr>
              <a:buChar char="•"/>
            </a:pPr>
            <a:r>
              <a:rPr lang="en-US" sz="1400" dirty="0">
                <a:solidFill>
                  <a:schemeClr val="tx1"/>
                </a:solidFill>
              </a:rPr>
              <a:t>Build an app of simple memory games</a:t>
            </a:r>
          </a:p>
          <a:p>
            <a:pPr marL="228600" indent="-228600">
              <a:spcAft>
                <a:spcPts val="1000"/>
              </a:spcAft>
              <a:buClr>
                <a:schemeClr val="accent1"/>
              </a:buClr>
              <a:buChar char="•"/>
            </a:pPr>
            <a:r>
              <a:rPr lang="en-US" sz="1400" dirty="0">
                <a:solidFill>
                  <a:schemeClr val="tx1"/>
                </a:solidFill>
              </a:rPr>
              <a:t>Add reminders and progress tracking</a:t>
            </a:r>
          </a:p>
          <a:p>
            <a:pPr marL="228600" indent="-228600">
              <a:spcAft>
                <a:spcPts val="1000"/>
              </a:spcAft>
              <a:buClr>
                <a:schemeClr val="accent1"/>
              </a:buClr>
              <a:buChar char="•"/>
            </a:pPr>
            <a:r>
              <a:rPr lang="en-US" sz="1400" dirty="0">
                <a:solidFill>
                  <a:schemeClr val="tx1"/>
                </a:solidFill>
              </a:rPr>
              <a:t>Keep it easy enough to use alone by old age people without anyone’s help</a:t>
            </a:r>
          </a:p>
        </p:txBody>
      </p:sp>
      <p:sp>
        <p:nvSpPr>
          <p:cNvPr id="25" name="Arrow 1"/>
          <p:cNvSpPr/>
          <p:nvPr/>
        </p:nvSpPr>
        <p:spPr>
          <a:xfrm>
            <a:off x="4022243" y="3611680"/>
            <a:ext cx="300000" cy="300000"/>
          </a:xfrm>
          <a:prstGeom prst="chevron">
            <a:avLst/>
          </a:prstGeom>
          <a:solidFill>
            <a:schemeClr val="accent6"/>
          </a:solidFill>
          <a:ln>
            <a:noFill/>
          </a:ln>
        </p:spPr>
      </p:sp>
      <p:sp>
        <p:nvSpPr>
          <p:cNvPr id="26" name="Card 2"/>
          <p:cNvSpPr/>
          <p:nvPr/>
        </p:nvSpPr>
        <p:spPr>
          <a:xfrm>
            <a:off x="4395847" y="2011680"/>
            <a:ext cx="3400000" cy="3500000"/>
          </a:xfrm>
          <a:prstGeom prst="roundRect">
            <a:avLst>
              <a:gd name="adj" fmla="val 6000"/>
            </a:avLst>
          </a:prstGeom>
          <a:solidFill>
            <a:schemeClr val="bg1"/>
          </a:solidFill>
          <a:ln w="9525">
            <a:solidFill>
              <a:schemeClr val="accent6"/>
            </a:solidFill>
          </a:ln>
        </p:spPr>
      </p:sp>
      <p:sp>
        <p:nvSpPr>
          <p:cNvPr id="27" name="Number Hex 2"/>
          <p:cNvSpPr/>
          <p:nvPr/>
        </p:nvSpPr>
        <p:spPr>
          <a:xfrm>
            <a:off x="4645847" y="2261680"/>
            <a:ext cx="640000" cy="554000"/>
          </a:xfrm>
          <a:prstGeom prst="hexagon">
            <a:avLst/>
          </a:prstGeom>
          <a:solidFill>
            <a:schemeClr val="accent3"/>
          </a:solidFill>
          <a:ln>
            <a:noFill/>
          </a:ln>
        </p:spPr>
        <p:txBody>
          <a:bodyPr lIns="0" tIns="0" rIns="0" bIns="0" anchor="ctr"/>
          <a:lstStyle/>
          <a:p>
            <a:pPr marL="0" indent="0" algn="ctr">
              <a:buNone/>
            </a:pPr>
            <a:r>
              <a:rPr lang="en-US" sz="2000" b="1" dirty="0">
                <a:solidFill>
                  <a:schemeClr val="bg1"/>
                </a:solidFill>
              </a:rPr>
              <a:t>2</a:t>
            </a:r>
          </a:p>
        </p:txBody>
      </p:sp>
      <p:sp>
        <p:nvSpPr>
          <p:cNvPr id="28" name="Heading 2"/>
          <p:cNvSpPr txBox="1"/>
          <p:nvPr/>
        </p:nvSpPr>
        <p:spPr>
          <a:xfrm>
            <a:off x="4645847" y="3061680"/>
            <a:ext cx="2900000" cy="450000"/>
          </a:xfrm>
          <a:prstGeom prst="rect">
            <a:avLst/>
          </a:prstGeom>
          <a:noFill/>
        </p:spPr>
        <p:txBody>
          <a:bodyPr wrap="square" lIns="0" tIns="0" rIns="0" bIns="0" anchor="ctr"/>
          <a:lstStyle/>
          <a:p>
            <a:pPr marL="0" indent="0">
              <a:buNone/>
            </a:pPr>
            <a:r>
              <a:rPr lang="en-US" sz="1800" b="1" dirty="0">
                <a:solidFill>
                  <a:schemeClr val="accent2"/>
                </a:solidFill>
              </a:rPr>
              <a:t>What we want to improve ?</a:t>
            </a:r>
          </a:p>
        </p:txBody>
      </p:sp>
      <p:sp>
        <p:nvSpPr>
          <p:cNvPr id="29" name="Body 2"/>
          <p:cNvSpPr txBox="1"/>
          <p:nvPr/>
        </p:nvSpPr>
        <p:spPr>
          <a:xfrm>
            <a:off x="4645847" y="3511680"/>
            <a:ext cx="2900000" cy="1650000"/>
          </a:xfrm>
          <a:prstGeom prst="rect">
            <a:avLst/>
          </a:prstGeom>
          <a:noFill/>
        </p:spPr>
        <p:txBody>
          <a:bodyPr wrap="square" lIns="0" tIns="0" rIns="0" bIns="0" anchor="t"/>
          <a:lstStyle/>
          <a:p>
            <a:pPr marL="228600" indent="-228600">
              <a:spcAft>
                <a:spcPts val="1000"/>
              </a:spcAft>
              <a:buClr>
                <a:schemeClr val="accent1"/>
              </a:buClr>
              <a:buChar char="•"/>
            </a:pPr>
            <a:r>
              <a:rPr lang="en-US" sz="1400" dirty="0">
                <a:solidFill>
                  <a:schemeClr val="tx1"/>
                </a:solidFill>
              </a:rPr>
              <a:t>Access to cognitive therapy for patients far from clinics</a:t>
            </a:r>
          </a:p>
          <a:p>
            <a:pPr marL="228600" indent="-228600">
              <a:spcAft>
                <a:spcPts val="1000"/>
              </a:spcAft>
              <a:buClr>
                <a:schemeClr val="accent1"/>
              </a:buClr>
              <a:buChar char="•"/>
            </a:pPr>
            <a:r>
              <a:rPr lang="en-US" sz="1400" dirty="0">
                <a:solidFill>
                  <a:schemeClr val="tx1"/>
                </a:solidFill>
              </a:rPr>
              <a:t>The daily load on caregivers</a:t>
            </a:r>
          </a:p>
          <a:p>
            <a:pPr marL="228600" indent="-228600">
              <a:spcAft>
                <a:spcPts val="1000"/>
              </a:spcAft>
              <a:buClr>
                <a:schemeClr val="accent1"/>
              </a:buClr>
              <a:buChar char="•"/>
            </a:pPr>
            <a:r>
              <a:rPr lang="en-US" sz="1400" dirty="0"/>
              <a:t>Reduce stress for patients and to improve their mental state</a:t>
            </a:r>
          </a:p>
          <a:p>
            <a:pPr marL="228600" indent="-228600">
              <a:spcAft>
                <a:spcPts val="1000"/>
              </a:spcAft>
              <a:buClr>
                <a:schemeClr val="accent1"/>
              </a:buClr>
              <a:buChar char="•"/>
            </a:pPr>
            <a:r>
              <a:rPr lang="en-US" sz="1400" dirty="0">
                <a:solidFill>
                  <a:schemeClr val="tx1"/>
                </a:solidFill>
              </a:rPr>
              <a:t>Provide a assurance for family to be strong </a:t>
            </a:r>
          </a:p>
        </p:txBody>
      </p:sp>
      <p:sp>
        <p:nvSpPr>
          <p:cNvPr id="30" name="Arrow 2"/>
          <p:cNvSpPr/>
          <p:nvPr/>
        </p:nvSpPr>
        <p:spPr>
          <a:xfrm>
            <a:off x="7869450" y="3611680"/>
            <a:ext cx="300000" cy="300000"/>
          </a:xfrm>
          <a:prstGeom prst="chevron">
            <a:avLst/>
          </a:prstGeom>
          <a:solidFill>
            <a:schemeClr val="accent6"/>
          </a:solidFill>
          <a:ln>
            <a:noFill/>
          </a:ln>
        </p:spPr>
      </p:sp>
      <p:sp>
        <p:nvSpPr>
          <p:cNvPr id="31" name="Card 3"/>
          <p:cNvSpPr/>
          <p:nvPr/>
        </p:nvSpPr>
        <p:spPr>
          <a:xfrm>
            <a:off x="8243054" y="2011680"/>
            <a:ext cx="3400000" cy="3500000"/>
          </a:xfrm>
          <a:prstGeom prst="roundRect">
            <a:avLst>
              <a:gd name="adj" fmla="val 6000"/>
            </a:avLst>
          </a:prstGeom>
          <a:solidFill>
            <a:schemeClr val="bg1"/>
          </a:solidFill>
          <a:ln w="9525">
            <a:solidFill>
              <a:schemeClr val="accent6"/>
            </a:solidFill>
          </a:ln>
        </p:spPr>
      </p:sp>
      <p:sp>
        <p:nvSpPr>
          <p:cNvPr id="32" name="Number Hex 3"/>
          <p:cNvSpPr/>
          <p:nvPr/>
        </p:nvSpPr>
        <p:spPr>
          <a:xfrm>
            <a:off x="8493054" y="2261680"/>
            <a:ext cx="640000" cy="554000"/>
          </a:xfrm>
          <a:prstGeom prst="hexagon">
            <a:avLst/>
          </a:prstGeom>
          <a:solidFill>
            <a:schemeClr val="accent3"/>
          </a:solidFill>
          <a:ln>
            <a:noFill/>
          </a:ln>
        </p:spPr>
        <p:txBody>
          <a:bodyPr lIns="0" tIns="0" rIns="0" bIns="0" anchor="ctr"/>
          <a:lstStyle/>
          <a:p>
            <a:pPr marL="0" indent="0" algn="ctr">
              <a:buNone/>
            </a:pPr>
            <a:r>
              <a:rPr lang="en-US" sz="2000" b="1" dirty="0">
                <a:solidFill>
                  <a:schemeClr val="bg1"/>
                </a:solidFill>
              </a:rPr>
              <a:t>3</a:t>
            </a:r>
          </a:p>
        </p:txBody>
      </p:sp>
      <p:sp>
        <p:nvSpPr>
          <p:cNvPr id="33" name="Heading 3"/>
          <p:cNvSpPr txBox="1"/>
          <p:nvPr/>
        </p:nvSpPr>
        <p:spPr>
          <a:xfrm>
            <a:off x="8493054" y="3061680"/>
            <a:ext cx="2900000" cy="450000"/>
          </a:xfrm>
          <a:prstGeom prst="rect">
            <a:avLst/>
          </a:prstGeom>
          <a:noFill/>
        </p:spPr>
        <p:txBody>
          <a:bodyPr wrap="square" lIns="0" tIns="0" rIns="0" bIns="0" anchor="ctr"/>
          <a:lstStyle/>
          <a:p>
            <a:pPr marL="0" indent="0">
              <a:buNone/>
            </a:pPr>
            <a:r>
              <a:rPr lang="en-US" sz="1800" b="1" dirty="0">
                <a:solidFill>
                  <a:schemeClr val="accent2"/>
                </a:solidFill>
              </a:rPr>
              <a:t>What success looks like ?</a:t>
            </a:r>
          </a:p>
        </p:txBody>
      </p:sp>
      <p:sp>
        <p:nvSpPr>
          <p:cNvPr id="34" name="Body 3"/>
          <p:cNvSpPr txBox="1"/>
          <p:nvPr/>
        </p:nvSpPr>
        <p:spPr>
          <a:xfrm>
            <a:off x="8493054" y="3661680"/>
            <a:ext cx="2900000" cy="1650000"/>
          </a:xfrm>
          <a:prstGeom prst="rect">
            <a:avLst/>
          </a:prstGeom>
          <a:noFill/>
        </p:spPr>
        <p:txBody>
          <a:bodyPr wrap="square" lIns="0" tIns="0" rIns="0" bIns="0" anchor="t"/>
          <a:lstStyle/>
          <a:p>
            <a:pPr marL="228600" indent="-228600">
              <a:spcAft>
                <a:spcPts val="1000"/>
              </a:spcAft>
              <a:buClr>
                <a:schemeClr val="accent1"/>
              </a:buClr>
              <a:buChar char="•"/>
            </a:pPr>
            <a:r>
              <a:rPr lang="en-US" sz="1400" dirty="0">
                <a:solidFill>
                  <a:schemeClr val="tx1"/>
                </a:solidFill>
              </a:rPr>
              <a:t>Patients play regularly without help</a:t>
            </a:r>
          </a:p>
          <a:p>
            <a:pPr marL="228600" indent="-228600">
              <a:spcAft>
                <a:spcPts val="1000"/>
              </a:spcAft>
              <a:buClr>
                <a:schemeClr val="accent1"/>
              </a:buClr>
              <a:buChar char="•"/>
            </a:pPr>
            <a:r>
              <a:rPr lang="en-US" sz="1400" dirty="0">
                <a:solidFill>
                  <a:schemeClr val="tx1"/>
                </a:solidFill>
              </a:rPr>
              <a:t>Caregivers see progress at a glance</a:t>
            </a:r>
          </a:p>
          <a:p>
            <a:pPr marL="228600" indent="-228600">
              <a:spcAft>
                <a:spcPts val="1000"/>
              </a:spcAft>
              <a:buClr>
                <a:schemeClr val="accent1"/>
              </a:buClr>
              <a:buChar char="•"/>
            </a:pPr>
            <a:r>
              <a:rPr lang="en-US" sz="1400" dirty="0">
                <a:solidFill>
                  <a:schemeClr val="tx1"/>
                </a:solidFill>
              </a:rPr>
              <a:t>Runs on a basic device</a:t>
            </a:r>
            <a:endParaRPr lang="en-US" sz="1400" dirty="0"/>
          </a:p>
          <a:p>
            <a:pPr marL="228600" indent="-228600">
              <a:spcAft>
                <a:spcPts val="1000"/>
              </a:spcAft>
              <a:buClr>
                <a:schemeClr val="accent1"/>
              </a:buClr>
              <a:buChar char="•"/>
            </a:pPr>
            <a:r>
              <a:rPr lang="en-US" sz="1400" dirty="0">
                <a:solidFill>
                  <a:schemeClr val="tx1"/>
                </a:solidFill>
              </a:rPr>
              <a:t>Seeking improve</a:t>
            </a:r>
            <a:r>
              <a:rPr lang="en-US" sz="1400" dirty="0"/>
              <a:t>ments in the memory power and capacity</a:t>
            </a:r>
            <a:endParaRPr lang="en-US" sz="1400" dirty="0">
              <a:solidFill>
                <a:schemeClr val="tx1"/>
              </a:solidFill>
            </a:endParaRPr>
          </a:p>
        </p:txBody>
      </p:sp>
      <p:sp>
        <p:nvSpPr>
          <p:cNvPr id="10"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1123</Words>
  <Application>Microsoft Office PowerPoint</Application>
  <PresentationFormat>Widescreen</PresentationFormat>
  <Paragraphs>137</Paragraphs>
  <Slides>8</Slides>
  <Notes>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8</vt:i4>
      </vt:variant>
    </vt:vector>
  </HeadingPairs>
  <TitlesOfParts>
    <vt:vector size="13" baseType="lpstr">
      <vt:lpstr>Arial</vt:lpstr>
      <vt:lpstr>Calibri</vt:lpstr>
      <vt:lpstr>Cambria</vt:lpstr>
      <vt:lpstr>Genesis Ideathon</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ASWATH .G</cp:lastModifiedBy>
  <cp:revision>5</cp:revision>
  <dcterms:created xsi:type="dcterms:W3CDTF">2026-10-07T15:27:40Z</dcterms:created>
  <dcterms:modified xsi:type="dcterms:W3CDTF">2026-10-09T17:14:19Z</dcterms:modified>
</cp:coreProperties>
</file>